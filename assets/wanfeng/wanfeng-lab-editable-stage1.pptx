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e130557af1457a" /><Relationship Type="http://schemas.openxmlformats.org/officeDocument/2006/relationships/extended-properties" Target="/docProps/app.xml" Id="Rf00810bea7a8448d" /><Relationship Type="http://schemas.openxmlformats.org/officeDocument/2006/relationships/officeDocument" Target="/ppt/presentation.xml" Id="R75e2def439024a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482fb7be1149c8"/>
  </p:sldMasterIdLst>
  <p:notesMasterIdLst>
    <p:notesMasterId xmlns:r="http://schemas.openxmlformats.org/officeDocument/2006/relationships" r:id="Raa834dfd35b04c65"/>
  </p:notesMasterIdLst>
  <p:sldIdLst>
    <p:sldId xmlns:r="http://schemas.openxmlformats.org/officeDocument/2006/relationships" id="256" r:id="Rf580001566ab4e06"/>
    <p:sldId xmlns:r="http://schemas.openxmlformats.org/officeDocument/2006/relationships" id="257" r:id="R766568f7c9664961"/>
    <p:sldId xmlns:r="http://schemas.openxmlformats.org/officeDocument/2006/relationships" id="258" r:id="Rcf372cc2dec4487c"/>
    <p:sldId xmlns:r="http://schemas.openxmlformats.org/officeDocument/2006/relationships" id="259" r:id="R15a1b5541c264fb5"/>
    <p:sldId xmlns:r="http://schemas.openxmlformats.org/officeDocument/2006/relationships" id="260" r:id="R7a865732be18427f"/>
    <p:sldId xmlns:r="http://schemas.openxmlformats.org/officeDocument/2006/relationships" id="261" r:id="R68b522b8ab95423f"/>
    <p:sldId xmlns:r="http://schemas.openxmlformats.org/officeDocument/2006/relationships" id="262" r:id="R2c396194e06e40f1"/>
    <p:sldId xmlns:r="http://schemas.openxmlformats.org/officeDocument/2006/relationships" id="263" r:id="Rcb592cc824b64252"/>
    <p:sldId xmlns:r="http://schemas.openxmlformats.org/officeDocument/2006/relationships" id="264" r:id="R9c900534b55d448c"/>
    <p:sldId xmlns:r="http://schemas.openxmlformats.org/officeDocument/2006/relationships" id="265" r:id="R1658087aa0564a1f"/>
    <p:sldId xmlns:r="http://schemas.openxmlformats.org/officeDocument/2006/relationships" id="266" r:id="Rf5aa945531e9491d"/>
    <p:sldId xmlns:r="http://schemas.openxmlformats.org/officeDocument/2006/relationships" id="267" r:id="R2b93423978ce4564"/>
    <p:sldId xmlns:r="http://schemas.openxmlformats.org/officeDocument/2006/relationships" id="268" r:id="Ra81e3e7ab3934e1a"/>
    <p:sldId xmlns:r="http://schemas.openxmlformats.org/officeDocument/2006/relationships" id="269" r:id="R66de4a47f431445b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1e116161d846e4" /><Relationship Type="http://schemas.openxmlformats.org/officeDocument/2006/relationships/slideMaster" Target="/ppt/slideMasters/slideMaster1.xml" Id="R55482fb7be1149c8" /><Relationship Type="http://schemas.openxmlformats.org/officeDocument/2006/relationships/notesMaster" Target="/ppt/notesMasters/notesMaster1.xml" Id="Raa834dfd35b04c65" /><Relationship Type="http://schemas.openxmlformats.org/officeDocument/2006/relationships/presProps" Target="/ppt/presProps.xml" Id="R7461650556664471" /><Relationship Type="http://schemas.openxmlformats.org/officeDocument/2006/relationships/viewProps" Target="/ppt/viewProps.xml" Id="Rb09473632307415e" /><Relationship Type="http://schemas.openxmlformats.org/officeDocument/2006/relationships/tableStyles" Target="/ppt/tableStyles.xml" Id="R3769c0f001c54453" /><Relationship Type="http://schemas.openxmlformats.org/officeDocument/2006/relationships/slide" Target="/ppt/slides/slide1.xml" Id="Rf580001566ab4e06" /><Relationship Type="http://schemas.openxmlformats.org/officeDocument/2006/relationships/slide" Target="/ppt/slides/slide2.xml" Id="R766568f7c9664961" /><Relationship Type="http://schemas.openxmlformats.org/officeDocument/2006/relationships/slide" Target="/ppt/slides/slide3.xml" Id="Rcf372cc2dec4487c" /><Relationship Type="http://schemas.openxmlformats.org/officeDocument/2006/relationships/slide" Target="/ppt/slides/slide4.xml" Id="R15a1b5541c264fb5" /><Relationship Type="http://schemas.openxmlformats.org/officeDocument/2006/relationships/slide" Target="/ppt/slides/slide5.xml" Id="R7a865732be18427f" /><Relationship Type="http://schemas.openxmlformats.org/officeDocument/2006/relationships/slide" Target="/ppt/slides/slide6.xml" Id="R68b522b8ab95423f" /><Relationship Type="http://schemas.openxmlformats.org/officeDocument/2006/relationships/slide" Target="/ppt/slides/slide7.xml" Id="R2c396194e06e40f1" /><Relationship Type="http://schemas.openxmlformats.org/officeDocument/2006/relationships/slide" Target="/ppt/slides/slide8.xml" Id="Rcb592cc824b64252" /><Relationship Type="http://schemas.openxmlformats.org/officeDocument/2006/relationships/slide" Target="/ppt/slides/slide9.xml" Id="R9c900534b55d448c" /><Relationship Type="http://schemas.openxmlformats.org/officeDocument/2006/relationships/slide" Target="/ppt/slides/slide10.xml" Id="R1658087aa0564a1f" /><Relationship Type="http://schemas.openxmlformats.org/officeDocument/2006/relationships/slide" Target="/ppt/slides/slide11.xml" Id="Rf5aa945531e9491d" /><Relationship Type="http://schemas.openxmlformats.org/officeDocument/2006/relationships/slide" Target="/ppt/slides/slide12.xml" Id="R2b93423978ce4564" /><Relationship Type="http://schemas.openxmlformats.org/officeDocument/2006/relationships/slide" Target="/ppt/slides/slide13.xml" Id="Ra81e3e7ab3934e1a" /><Relationship Type="http://schemas.openxmlformats.org/officeDocument/2006/relationships/slide" Target="/ppt/slides/slide14.xml" Id="R66de4a47f43144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78552756e347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b4014e25214c4d" /><Relationship Type="http://schemas.openxmlformats.org/officeDocument/2006/relationships/notesMaster" Target="/ppt/notesMasters/notesMaster1.xml" Id="Re3bc1510a6d54f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a8d3b76be4405d" /><Relationship Type="http://schemas.openxmlformats.org/officeDocument/2006/relationships/notesMaster" Target="/ppt/notesMasters/notesMaster1.xml" Id="R844805c04f1c40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0348fa5b3449a4" /><Relationship Type="http://schemas.openxmlformats.org/officeDocument/2006/relationships/notesMaster" Target="/ppt/notesMasters/notesMaster1.xml" Id="R7aa27541946d4d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aa23a1c7274210" /><Relationship Type="http://schemas.openxmlformats.org/officeDocument/2006/relationships/notesMaster" Target="/ppt/notesMasters/notesMaster1.xml" Id="Rab895a0ea16d41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426c9dfee54620" /><Relationship Type="http://schemas.openxmlformats.org/officeDocument/2006/relationships/notesMaster" Target="/ppt/notesMasters/notesMaster1.xml" Id="R68be9aa4c67648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4fc8dc0de14e95" /><Relationship Type="http://schemas.openxmlformats.org/officeDocument/2006/relationships/notesMaster" Target="/ppt/notesMasters/notesMaster1.xml" Id="Rdb99b3ef12d94b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f367e338fe4860" /><Relationship Type="http://schemas.openxmlformats.org/officeDocument/2006/relationships/notesMaster" Target="/ppt/notesMasters/notesMaster1.xml" Id="R9ecf69424c4f49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121d5926ba4419" /><Relationship Type="http://schemas.openxmlformats.org/officeDocument/2006/relationships/notesMaster" Target="/ppt/notesMasters/notesMaster1.xml" Id="R413921fd5d7145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697885831e4e77" /><Relationship Type="http://schemas.openxmlformats.org/officeDocument/2006/relationships/notesMaster" Target="/ppt/notesMasters/notesMaster1.xml" Id="R783b645e51024b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694c60198b45cc" /><Relationship Type="http://schemas.openxmlformats.org/officeDocument/2006/relationships/notesMaster" Target="/ppt/notesMasters/notesMaster1.xml" Id="Re6222a7ff8af48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af99fa4aa444bd" /><Relationship Type="http://schemas.openxmlformats.org/officeDocument/2006/relationships/notesMaster" Target="/ppt/notesMasters/notesMaster1.xml" Id="Rb2c70e5c01f1486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22a825f0204e91" /><Relationship Type="http://schemas.openxmlformats.org/officeDocument/2006/relationships/notesMaster" Target="/ppt/notesMasters/notesMaster1.xml" Id="R281a3b3cde924c4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7194fa3fe14915" /><Relationship Type="http://schemas.openxmlformats.org/officeDocument/2006/relationships/notesMaster" Target="/ppt/notesMasters/notesMaster1.xml" Id="R3bac66dcae4e44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6fe5e15cb749fe" /><Relationship Type="http://schemas.openxmlformats.org/officeDocument/2006/relationships/notesMaster" Target="/ppt/notesMasters/notesMaster1.xml" Id="R2d3180e6150d4a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晚风研究所是个人概念项目，围绕情绪饮品展开品牌视觉、产品包装、传播内容与 AIGC 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目标人群与需求属于概念项目设定，尚未通过真实调研验证。设计聚焦下班后和独处场景中的自我照顾。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三类需求属于设计假设。下一步通过真实访谈、偏好测试和场景观察验证情绪标签是否能降低选择成本。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品牌把情绪、天气与饮品联系起来。晴天对应小确幸，其余为晚风、雨天、星夜系列。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杯形标志、低饱和系列色与手绘符号构成视觉识别。辅助图形在包装和传播内容中保持一致。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四个场景共同展示系列气质：放松、温暖、小确幸和安静。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四条饮品系列通过颜色、情绪和风味建立选择线索。包装为概念效果图，尚未打样或生产。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系列海报用情绪文案连接产品与生活场景。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05秒概念短片关键帧。当前展示为静态影像，未嵌入可播放视频。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平台适配包括小红书竖版封面与方图、抖音短视频封面、公众号图文和微博话题长图。播放图标属于静态封面设计。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周边以日常陪伴为场景，包括帆布袋、杯套和杯贴、贴纸、徽章、亚克力立牌和吊饰、明信片、手机壳、笔记本、包装盒、毛巾和布巾。均为概念效果图。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预热、互动、种草、UGC与内容沉淀构成传播方案。属于概念设想，不代表真实投放结果。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AIGC方法包括 Brief、Prompt、Generate、Select、Refine、Output。人工负责品牌判断、筛选及局部修正。后续需补充实际候选筛选和精修前后对照材料。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项目形成品牌视觉与多触点内容。后续验证系列辨识、移动端阅读、包装打样与印刷色，并补充过程证据。以上属于下一步计划，不代表已经完成的上线结果。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e7439cd4ff43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92e0db89004519" /><Relationship Type="http://schemas.openxmlformats.org/officeDocument/2006/relationships/slideLayout" Target="/ppt/slideLayouts/slideLayout1.xml" Id="Rb41ca91e6bee40a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1ca91e6bee40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1242638394c5c" /><Relationship Type="http://schemas.openxmlformats.org/officeDocument/2006/relationships/image" Target="/ppt/media/image.png" Id="R5d547d1be7274e29" /><Relationship Type="http://schemas.openxmlformats.org/officeDocument/2006/relationships/notesSlide" Target="/ppt/notesSlides/notesSlide1.xml" Id="R45234b5c708d4e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84ce04cc14cbd" /><Relationship Type="http://schemas.openxmlformats.org/officeDocument/2006/relationships/image" Target="/ppt/media/image2.png" Id="Rf0f764a8cf6e466a" /><Relationship Type="http://schemas.openxmlformats.org/officeDocument/2006/relationships/notesSlide" Target="/ppt/notesSlides/notesSlide2.xml" Id="R189ba9025e9c40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6502c72984f0c" /><Relationship Type="http://schemas.openxmlformats.org/officeDocument/2006/relationships/notesSlide" Target="/ppt/notesSlides/notesSlide3.xml" Id="R828863fec27a4f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ecc0a7dce4f9e" /><Relationship Type="http://schemas.openxmlformats.org/officeDocument/2006/relationships/image" Target="/ppt/media/image3.png" Id="R29461fe5842c4d72" /><Relationship Type="http://schemas.openxmlformats.org/officeDocument/2006/relationships/notesSlide" Target="/ppt/notesSlides/notesSlide4.xml" Id="Re3bfa362df6c4f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f468145f8431e" /><Relationship Type="http://schemas.openxmlformats.org/officeDocument/2006/relationships/image" Target="/ppt/media/image4.png" Id="Rc70b53770e1c421c" /><Relationship Type="http://schemas.openxmlformats.org/officeDocument/2006/relationships/image" Target="/ppt/media/image5.png" Id="Rd16f3755328d4518" /><Relationship Type="http://schemas.openxmlformats.org/officeDocument/2006/relationships/image" Target="/ppt/media/image6.png" Id="Rd25712e388e94d55" /><Relationship Type="http://schemas.openxmlformats.org/officeDocument/2006/relationships/notesSlide" Target="/ppt/notesSlides/notesSlide5.xml" Id="R3adee57a146140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e415e31d242e3" /><Relationship Type="http://schemas.openxmlformats.org/officeDocument/2006/relationships/image" Target="/ppt/media/image7.png" Id="R3fdf0a45abbd4fed" /><Relationship Type="http://schemas.openxmlformats.org/officeDocument/2006/relationships/notesSlide" Target="/ppt/notesSlides/notesSlide6.xml" Id="R882c90d14cb446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14ebe30ce4520" /><Relationship Type="http://schemas.openxmlformats.org/officeDocument/2006/relationships/image" Target="/ppt/media/image8.png" Id="Rf2b6460f8b0f4559" /><Relationship Type="http://schemas.openxmlformats.org/officeDocument/2006/relationships/image" Target="/ppt/media/image9.png" Id="R483aebd73e1e49e2" /><Relationship Type="http://schemas.openxmlformats.org/officeDocument/2006/relationships/image" Target="/ppt/media/image10.png" Id="R973c4030ecdb4255" /><Relationship Type="http://schemas.openxmlformats.org/officeDocument/2006/relationships/image" Target="/ppt/media/image11.png" Id="R2bc1257f1eae440c" /><Relationship Type="http://schemas.openxmlformats.org/officeDocument/2006/relationships/image" Target="/ppt/media/image12.png" Id="Ra858ae55ada54f8b" /><Relationship Type="http://schemas.openxmlformats.org/officeDocument/2006/relationships/image" Target="/ppt/media/image13.png" Id="Re0493abe351a4454" /><Relationship Type="http://schemas.openxmlformats.org/officeDocument/2006/relationships/image" Target="/ppt/media/image14.png" Id="R636c9d44e5b344a6" /><Relationship Type="http://schemas.openxmlformats.org/officeDocument/2006/relationships/image" Target="/ppt/media/image15.png" Id="Rdbfd4dfc12bd4dc9" /><Relationship Type="http://schemas.openxmlformats.org/officeDocument/2006/relationships/image" Target="/ppt/media/image16.png" Id="R71bd5ccef761499f" /><Relationship Type="http://schemas.openxmlformats.org/officeDocument/2006/relationships/image" Target="/ppt/media/image17.png" Id="R3dda4da673864256" /><Relationship Type="http://schemas.openxmlformats.org/officeDocument/2006/relationships/notesSlide" Target="/ppt/notesSlides/notesSlide7.xml" Id="R83603c2280c140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03c6e33a443cf" /><Relationship Type="http://schemas.openxmlformats.org/officeDocument/2006/relationships/image" Target="/ppt/media/image18.png" Id="R4d92da87d3704609" /><Relationship Type="http://schemas.openxmlformats.org/officeDocument/2006/relationships/notesSlide" Target="/ppt/notesSlides/notesSlide8.xml" Id="R5443d155f57c4f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43453b9f74c44" /><Relationship Type="http://schemas.openxmlformats.org/officeDocument/2006/relationships/image" Target="/ppt/media/image19.png" Id="R6a1b8f10a5f7498b" /><Relationship Type="http://schemas.openxmlformats.org/officeDocument/2006/relationships/image" Target="/ppt/media/image20.png" Id="R8818f8ef09674181" /><Relationship Type="http://schemas.openxmlformats.org/officeDocument/2006/relationships/notesSlide" Target="/ppt/notesSlides/notesSlide9.xml" Id="R7323a3caa69c4d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a57e147b34026" /><Relationship Type="http://schemas.openxmlformats.org/officeDocument/2006/relationships/image" Target="/ppt/media/image21.png" Id="Rfa815e7d0b074759" /><Relationship Type="http://schemas.openxmlformats.org/officeDocument/2006/relationships/image" Target="/ppt/media/image22.png" Id="R36b3f2d3bf854d8a" /><Relationship Type="http://schemas.openxmlformats.org/officeDocument/2006/relationships/image" Target="/ppt/media/image23.png" Id="Re2baf9d77c484d79" /><Relationship Type="http://schemas.openxmlformats.org/officeDocument/2006/relationships/image" Target="/ppt/media/image24.png" Id="R694137610f344eb9" /><Relationship Type="http://schemas.openxmlformats.org/officeDocument/2006/relationships/image" Target="/ppt/media/image25.png" Id="R3a54d50753c84056" /><Relationship Type="http://schemas.openxmlformats.org/officeDocument/2006/relationships/image" Target="/ppt/media/image26.png" Id="R76b1389f5d734eeb" /><Relationship Type="http://schemas.openxmlformats.org/officeDocument/2006/relationships/image" Target="/ppt/media/image27.png" Id="Rfdb20696c82846c7" /><Relationship Type="http://schemas.openxmlformats.org/officeDocument/2006/relationships/image" Target="/ppt/media/image28.png" Id="R2aaa4b198cb84850" /><Relationship Type="http://schemas.openxmlformats.org/officeDocument/2006/relationships/notesSlide" Target="/ppt/notesSlides/notesSlide10.xml" Id="R199879becb4841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d0dc6f8534dc0" /><Relationship Type="http://schemas.openxmlformats.org/officeDocument/2006/relationships/image" Target="/ppt/media/image29.png" Id="R57ee1559e658464b" /><Relationship Type="http://schemas.openxmlformats.org/officeDocument/2006/relationships/image" Target="/ppt/media/image30.png" Id="Recf525a5a0314ba5" /><Relationship Type="http://schemas.openxmlformats.org/officeDocument/2006/relationships/image" Target="/ppt/media/image31.png" Id="Ra9a61dd710994e94" /><Relationship Type="http://schemas.openxmlformats.org/officeDocument/2006/relationships/image" Target="/ppt/media/image32.png" Id="R1cfc32e4849041e9" /><Relationship Type="http://schemas.openxmlformats.org/officeDocument/2006/relationships/image" Target="/ppt/media/image33.png" Id="Rd900c6831cd144cc" /><Relationship Type="http://schemas.openxmlformats.org/officeDocument/2006/relationships/image" Target="/ppt/media/image34.png" Id="R2f675e9977594fb5" /><Relationship Type="http://schemas.openxmlformats.org/officeDocument/2006/relationships/image" Target="/ppt/media/image35.png" Id="R80569bdfe2414576" /><Relationship Type="http://schemas.openxmlformats.org/officeDocument/2006/relationships/image" Target="/ppt/media/image36.png" Id="Rf96a4e81c4c647df" /><Relationship Type="http://schemas.openxmlformats.org/officeDocument/2006/relationships/image" Target="/ppt/media/image37.png" Id="R29ca857dc4d44b6d" /><Relationship Type="http://schemas.openxmlformats.org/officeDocument/2006/relationships/image" Target="/ppt/media/image38.png" Id="Rfbdede6c2e724ec2" /><Relationship Type="http://schemas.openxmlformats.org/officeDocument/2006/relationships/notesSlide" Target="/ppt/notesSlides/notesSlide11.xml" Id="Rc5cf48af8dbc44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627df9240402f" /><Relationship Type="http://schemas.openxmlformats.org/officeDocument/2006/relationships/image" Target="/ppt/media/image39.png" Id="Rc91ca28a660e4087" /><Relationship Type="http://schemas.openxmlformats.org/officeDocument/2006/relationships/notesSlide" Target="/ppt/notesSlides/notesSlide12.xml" Id="R38fbdd4c283a47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5d05e53384ac3" /><Relationship Type="http://schemas.openxmlformats.org/officeDocument/2006/relationships/notesSlide" Target="/ppt/notesSlides/notesSlide13.xml" Id="R7c12cb3f1c6d45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dac6badc947a6" /><Relationship Type="http://schemas.openxmlformats.org/officeDocument/2006/relationships/image" Target="/ppt/media/image40.png" Id="R225883d2f1204196" /><Relationship Type="http://schemas.openxmlformats.org/officeDocument/2006/relationships/image" Target="/ppt/media/image41.png" Id="R5f331c69f28c4120" /><Relationship Type="http://schemas.openxmlformats.org/officeDocument/2006/relationships/image" Target="/ppt/media/image42.png" Id="R19546f10350f4188" /><Relationship Type="http://schemas.openxmlformats.org/officeDocument/2006/relationships/image" Target="/ppt/media/image21.png" Id="R31464fe554fa4455" /><Relationship Type="http://schemas.openxmlformats.org/officeDocument/2006/relationships/image" Target="/ppt/media/image33.png" Id="Re3c839232e144992" /><Relationship Type="http://schemas.openxmlformats.org/officeDocument/2006/relationships/image" Target="/ppt/media/image36.png" Id="R12cebbbc2ed443d6" /><Relationship Type="http://schemas.openxmlformats.org/officeDocument/2006/relationships/notesSlide" Target="/ppt/notesSlides/notesSlide14.xml" Id="Rb4aa820a168941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47d1be7274e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90525"/>
            <a:ext cx="12232640" cy="7664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77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02">
            <a:extLst xmlns:a="http://schemas.openxmlformats.org/drawingml/2006/main">
              <a:ext uri="{FF2B5EF4-FFF2-40B4-BE49-F238E27FC236}">
                <a16:creationId xmlns:a16="http://schemas.microsoft.com/office/drawing/2014/main" id="{2C3A3BDC-7355-4F3D-8B5F-4CAAAEC7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5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INSIGHT">
            <a:extLst xmlns:a="http://schemas.openxmlformats.org/drawingml/2006/main">
              <a:ext uri="{FF2B5EF4-FFF2-40B4-BE49-F238E27FC236}">
                <a16:creationId xmlns:a16="http://schemas.microsoft.com/office/drawing/2014/main" id="{3B28680C-6749-4514-9D39-229A9E40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INSIGHT</a:t>
            </a:r>
            <a:endParaRPr sz="97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用户洞察">
            <a:extLst xmlns:a="http://schemas.openxmlformats.org/drawingml/2006/main">
              <a:ext uri="{FF2B5EF4-FFF2-40B4-BE49-F238E27FC236}">
                <a16:creationId xmlns:a16="http://schemas.microsoft.com/office/drawing/2014/main" id="{F21E2606-DACC-4BB4-84DB-99DA25A5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150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用户洞察</a:t>
            </a:r>
            <a:endParaRPr sz="24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YLVIE  /  WANFENG LAB  /  个人概念项目">
            <a:extLst xmlns:a="http://schemas.openxmlformats.org/drawingml/2006/main">
              <a:ext uri="{FF2B5EF4-FFF2-40B4-BE49-F238E27FC236}">
                <a16:creationId xmlns:a16="http://schemas.microsoft.com/office/drawing/2014/main" id="{27971F7E-9120-4890-BA84-2656EE9B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246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Sylvia／韩祎飒</a:t>
            </a: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  /  WANFENG LAB  /  个人概念项目</a:t>
            </a:r>
            <a:endParaRPr sz="825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02 / 14">
            <a:extLst xmlns:a="http://schemas.openxmlformats.org/drawingml/2006/main">
              <a:ext uri="{FF2B5EF4-FFF2-40B4-BE49-F238E27FC236}">
                <a16:creationId xmlns:a16="http://schemas.microsoft.com/office/drawing/2014/main" id="{FA72CC12-A900-41AD-8C94-F52838B4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02 / 14</a:t>
            </a:r>
            <a:endParaRPr sz="82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一个允许自己&#10;暂停的理由">
            <a:extLst xmlns:a="http://schemas.openxmlformats.org/drawingml/2006/main">
              <a:ext uri="{FF2B5EF4-FFF2-40B4-BE49-F238E27FC236}">
                <a16:creationId xmlns:a16="http://schemas.microsoft.com/office/drawing/2014/main" id="{9F7C2E08-3487-4C40-9C84-5F3A43FF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95425"/>
            <a:ext cx="609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一个允许自己</a:t>
            </a:r>
            <a:endParaRPr sz="36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buNone/>
              <a:defRPr sz="36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暂停的理由</a:t>
            </a:r>
            <a:endParaRPr sz="36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下班后、独处时、雨天与深夜，&#10;饮品可以成为照顾自己的小小仪式。">
            <a:extLst xmlns:a="http://schemas.openxmlformats.org/drawingml/2006/main">
              <a:ext uri="{FF2B5EF4-FFF2-40B4-BE49-F238E27FC236}">
                <a16:creationId xmlns:a16="http://schemas.microsoft.com/office/drawing/2014/main" id="{A122EB4D-8F8E-4C30-B2A1-A90CBCF8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577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下班后、独处时、雨天与深夜，</a:t>
            </a:r>
            <a:endParaRPr sz="1875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buNone/>
              <a:defRPr sz="187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饮品可以成为照顾自己的小小仪式。</a:t>
            </a:r>
            <a:endParaRPr sz="1875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目标人群">
            <a:extLst xmlns:a="http://schemas.openxmlformats.org/drawingml/2006/main">
              <a:ext uri="{FF2B5EF4-FFF2-40B4-BE49-F238E27FC236}">
                <a16:creationId xmlns:a16="http://schemas.microsoft.com/office/drawing/2014/main" id="{7D8EE894-D14E-4313-A5AE-8E86BBCA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148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目标人群</a:t>
            </a:r>
            <a:endParaRPr sz="1350" b="1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18–28 岁年轻城市消费者">
            <a:extLst xmlns:a="http://schemas.openxmlformats.org/drawingml/2006/main">
              <a:ext uri="{FF2B5EF4-FFF2-40B4-BE49-F238E27FC236}">
                <a16:creationId xmlns:a16="http://schemas.microsoft.com/office/drawing/2014/main" id="{E43B118D-2DB3-4218-8AD6-7FB3070C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18–28 岁年轻城市消费者</a:t>
            </a:r>
            <a:endParaRPr sz="202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设计命题：用情绪帮助选择，&#10;用晚间场景建立陪伴感。">
            <a:extLst xmlns:a="http://schemas.openxmlformats.org/drawingml/2006/main">
              <a:ext uri="{FF2B5EF4-FFF2-40B4-BE49-F238E27FC236}">
                <a16:creationId xmlns:a16="http://schemas.microsoft.com/office/drawing/2014/main" id="{7ECEC579-0CEF-4298-962F-ADA9554D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设计命题：用情绪帮助选择，</a:t>
            </a:r>
            <a:endParaRPr sz="165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buNone/>
              <a:def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用晚间场景建立陪伴感。</a:t>
            </a:r>
            <a:endParaRPr sz="165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764a8cf6e46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644027"/>
            <a:ext cx="4810125" cy="41890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494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03">
            <a:extLst xmlns:a="http://schemas.openxmlformats.org/drawingml/2006/main">
              <a:ext uri="{FF2B5EF4-FFF2-40B4-BE49-F238E27FC236}">
                <a16:creationId xmlns:a16="http://schemas.microsoft.com/office/drawing/2014/main" id="{CF633C78-FC49-4D57-AD47-1E481711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5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IMULATED RESEARCH">
            <a:extLst xmlns:a="http://schemas.openxmlformats.org/drawingml/2006/main">
              <a:ext uri="{FF2B5EF4-FFF2-40B4-BE49-F238E27FC236}">
                <a16:creationId xmlns:a16="http://schemas.microsoft.com/office/drawing/2014/main" id="{2462D6A4-631C-4280-8689-6923BE2F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SIMULATED RESEARCH</a:t>
            </a:r>
            <a:endParaRPr sz="97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模拟研究框架">
            <a:extLst xmlns:a="http://schemas.openxmlformats.org/drawingml/2006/main">
              <a:ext uri="{FF2B5EF4-FFF2-40B4-BE49-F238E27FC236}">
                <a16:creationId xmlns:a16="http://schemas.microsoft.com/office/drawing/2014/main" id="{5D189BE3-2A70-48E8-9B6B-3DE1DF17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150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模拟研究框架</a:t>
            </a:r>
            <a:endParaRPr sz="24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YLVIE  /  WANFENG LAB  /  个人概念项目">
            <a:extLst xmlns:a="http://schemas.openxmlformats.org/drawingml/2006/main">
              <a:ext uri="{FF2B5EF4-FFF2-40B4-BE49-F238E27FC236}">
                <a16:creationId xmlns:a16="http://schemas.microsoft.com/office/drawing/2014/main" id="{B5DF8F3B-E7AA-4A7A-8D47-4390D764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246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Sylvia／韩祎飒</a:t>
            </a: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  /  WANFENG LAB  /  个人概念项目</a:t>
            </a:r>
            <a:endParaRPr sz="825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03 / 14">
            <a:extLst xmlns:a="http://schemas.openxmlformats.org/drawingml/2006/main">
              <a:ext uri="{FF2B5EF4-FFF2-40B4-BE49-F238E27FC236}">
                <a16:creationId xmlns:a16="http://schemas.microsoft.com/office/drawing/2014/main" id="{B170E65E-A0DB-4F05-80B6-4BE9033B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03 / 14</a:t>
            </a:r>
            <a:endParaRPr sz="82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情绪触发如何影响饮品选择">
            <a:extLst xmlns:a="http://schemas.openxmlformats.org/drawingml/2006/main">
              <a:ext uri="{FF2B5EF4-FFF2-40B4-BE49-F238E27FC236}">
                <a16:creationId xmlns:a16="http://schemas.microsoft.com/office/drawing/2014/main" id="{D4741414-5A22-4347-AA51-024A97CD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620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情绪触发如何影响饮品选择</a:t>
            </a:r>
            <a:endParaRPr sz="25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概念推演，非真实调研数据；以下假设仍需访谈与偏好测试验证。">
            <a:extLst xmlns:a="http://schemas.openxmlformats.org/drawingml/2006/main">
              <a:ext uri="{FF2B5EF4-FFF2-40B4-BE49-F238E27FC236}">
                <a16:creationId xmlns:a16="http://schemas.microsoft.com/office/drawing/2014/main" id="{F5E70925-49B7-401B-9252-527928E3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概念推演，非真实调研数据；以下假设仍需访谈与偏好测试验证。</a:t>
            </a:r>
            <a:endParaRPr sz="1425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364D505B-DB09-4E1B-993E-4D329AAA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765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E705F"/>
                </a:solidFill>
                <a:latin typeface="Aptos"/>
                <a:ea typeface="Aptos"/>
                <a:cs typeface="Aptos"/>
              </a:rPr>
              <a:t>01</a:t>
            </a:r>
            <a:endParaRPr sz="1800" b="1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独处型复原">
            <a:extLst xmlns:a="http://schemas.openxmlformats.org/drawingml/2006/main">
              <a:ext uri="{FF2B5EF4-FFF2-40B4-BE49-F238E27FC236}">
                <a16:creationId xmlns:a16="http://schemas.microsoft.com/office/drawing/2014/main" id="{15512FF7-2186-4CC4-93D5-B7DE9BC9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46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独处型复原</a:t>
            </a:r>
            <a:endParaRPr sz="21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通勤后 / 独处 / 轻度疲惫">
            <a:extLst xmlns:a="http://schemas.openxmlformats.org/drawingml/2006/main">
              <a:ext uri="{FF2B5EF4-FFF2-40B4-BE49-F238E27FC236}">
                <a16:creationId xmlns:a16="http://schemas.microsoft.com/office/drawing/2014/main" id="{34758DC5-2896-4BF9-B939-A018CD2B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052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通勤后 / 独处 / 轻度疲惫</a:t>
            </a:r>
            <a:endParaRPr sz="1425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假设：需要更轻松的选择">
            <a:extLst xmlns:a="http://schemas.openxmlformats.org/drawingml/2006/main">
              <a:ext uri="{FF2B5EF4-FFF2-40B4-BE49-F238E27FC236}">
                <a16:creationId xmlns:a16="http://schemas.microsoft.com/office/drawing/2014/main" id="{41B85B9E-9407-4A2A-92AB-B41EC7A9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2450"/>
            <a:ext cx="3476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假设：需要更轻松的选择</a:t>
            </a:r>
            <a:endParaRPr sz="15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以情绪作为第一识别层级，&#10;再呈现口味信息。">
            <a:extLst xmlns:a="http://schemas.openxmlformats.org/drawingml/2006/main">
              <a:ext uri="{FF2B5EF4-FFF2-40B4-BE49-F238E27FC236}">
                <a16:creationId xmlns:a16="http://schemas.microsoft.com/office/drawing/2014/main" id="{824F1F52-D1CF-4242-A1C5-BC5B269D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3476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以情绪作为第一识别层级，</a:t>
            </a:r>
            <a:endParaRPr sz="165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buNone/>
              <a:def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再呈现口味信息。</a:t>
            </a:r>
            <a:endParaRPr sz="165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02">
            <a:extLst xmlns:a="http://schemas.openxmlformats.org/drawingml/2006/main">
              <a:ext uri="{FF2B5EF4-FFF2-40B4-BE49-F238E27FC236}">
                <a16:creationId xmlns:a16="http://schemas.microsoft.com/office/drawing/2014/main" id="{907449E8-E923-437A-848C-396D8F8D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765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E705F"/>
                </a:solidFill>
                <a:latin typeface="Aptos"/>
                <a:ea typeface="Aptos"/>
                <a:cs typeface="Aptos"/>
              </a:rPr>
              <a:t>02</a:t>
            </a:r>
            <a:endParaRPr sz="1800" b="1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分享型表达">
            <a:extLst xmlns:a="http://schemas.openxmlformats.org/drawingml/2006/main">
              <a:ext uri="{FF2B5EF4-FFF2-40B4-BE49-F238E27FC236}">
                <a16:creationId xmlns:a16="http://schemas.microsoft.com/office/drawing/2014/main" id="{EC3D9FC2-9848-4F61-B64E-191CD959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146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分享型表达</a:t>
            </a:r>
            <a:endParaRPr sz="21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情绪表达 / 社交分享 / 尝鲜">
            <a:extLst xmlns:a="http://schemas.openxmlformats.org/drawingml/2006/main">
              <a:ext uri="{FF2B5EF4-FFF2-40B4-BE49-F238E27FC236}">
                <a16:creationId xmlns:a16="http://schemas.microsoft.com/office/drawing/2014/main" id="{FCA8E1DB-DBD0-46A0-B5D9-AAA78224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052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情绪表达 / 社交分享 / 尝鲜</a:t>
            </a:r>
            <a:endParaRPr sz="1425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假设：愿意分享当下状态">
            <a:extLst xmlns:a="http://schemas.openxmlformats.org/drawingml/2006/main">
              <a:ext uri="{FF2B5EF4-FFF2-40B4-BE49-F238E27FC236}">
                <a16:creationId xmlns:a16="http://schemas.microsoft.com/office/drawing/2014/main" id="{1E9F5A1C-0B16-4394-BBB6-C4214577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62450"/>
            <a:ext cx="3476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假设：愿意分享当下状态</a:t>
            </a:r>
            <a:endParaRPr sz="15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用可复述的情绪文案，&#10;连接饮品与社媒话题。">
            <a:extLst xmlns:a="http://schemas.openxmlformats.org/drawingml/2006/main">
              <a:ext uri="{FF2B5EF4-FFF2-40B4-BE49-F238E27FC236}">
                <a16:creationId xmlns:a16="http://schemas.microsoft.com/office/drawing/2014/main" id="{31E58177-B6C4-4826-81A4-35025733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57750"/>
            <a:ext cx="3476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用可复述的情绪文案，</a:t>
            </a:r>
            <a:endParaRPr sz="165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buNone/>
              <a:def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连接饮品与社媒话题。</a:t>
            </a:r>
            <a:endParaRPr sz="165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03">
            <a:extLst xmlns:a="http://schemas.openxmlformats.org/drawingml/2006/main">
              <a:ext uri="{FF2B5EF4-FFF2-40B4-BE49-F238E27FC236}">
                <a16:creationId xmlns:a16="http://schemas.microsoft.com/office/drawing/2014/main" id="{6FBBAEFC-8A0B-4550-9BB0-DD795B9B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7652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E705F"/>
                </a:solidFill>
                <a:latin typeface="Aptos"/>
                <a:ea typeface="Aptos"/>
                <a:cs typeface="Aptos"/>
              </a:rPr>
              <a:t>03</a:t>
            </a:r>
            <a:endParaRPr sz="1800" b="1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仪式型放松">
            <a:extLst xmlns:a="http://schemas.openxmlformats.org/drawingml/2006/main">
              <a:ext uri="{FF2B5EF4-FFF2-40B4-BE49-F238E27FC236}">
                <a16:creationId xmlns:a16="http://schemas.microsoft.com/office/drawing/2014/main" id="{20945149-8996-4167-A6FF-7FE92831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146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仪式型放松</a:t>
            </a:r>
            <a:endParaRPr sz="21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睡前 / 阅读 / 周末慢时光">
            <a:extLst xmlns:a="http://schemas.openxmlformats.org/drawingml/2006/main">
              <a:ext uri="{FF2B5EF4-FFF2-40B4-BE49-F238E27FC236}">
                <a16:creationId xmlns:a16="http://schemas.microsoft.com/office/drawing/2014/main" id="{D75E4631-A3D4-4932-A10B-33585A08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052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睡前 / 阅读 / 周末慢时光</a:t>
            </a:r>
            <a:endParaRPr sz="1425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假设：饮品承载结束感">
            <a:extLst xmlns:a="http://schemas.openxmlformats.org/drawingml/2006/main">
              <a:ext uri="{FF2B5EF4-FFF2-40B4-BE49-F238E27FC236}">
                <a16:creationId xmlns:a16="http://schemas.microsoft.com/office/drawing/2014/main" id="{F526FFDB-3E0A-437B-87D2-E0C7B2D8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3476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假设：饮品承载结束感</a:t>
            </a:r>
            <a:endParaRPr sz="15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让包装、影像和周边&#10;延续晚间陪伴的场景。">
            <a:extLst xmlns:a="http://schemas.openxmlformats.org/drawingml/2006/main">
              <a:ext uri="{FF2B5EF4-FFF2-40B4-BE49-F238E27FC236}">
                <a16:creationId xmlns:a16="http://schemas.microsoft.com/office/drawing/2014/main" id="{7FB57489-E0E3-4C0E-A266-ABCD799B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57750"/>
            <a:ext cx="3476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让包装、影像和周边</a:t>
            </a:r>
            <a:endParaRPr sz="165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buNone/>
              <a:def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延续晚间陪伴的场景。</a:t>
            </a:r>
            <a:endParaRPr sz="165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946390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04">
            <a:extLst xmlns:a="http://schemas.openxmlformats.org/drawingml/2006/main">
              <a:ext uri="{FF2B5EF4-FFF2-40B4-BE49-F238E27FC236}">
                <a16:creationId xmlns:a16="http://schemas.microsoft.com/office/drawing/2014/main" id="{158003BB-FD44-427C-AEF0-F77A16FF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25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BRAND CONCEPT">
            <a:extLst xmlns:a="http://schemas.openxmlformats.org/drawingml/2006/main">
              <a:ext uri="{FF2B5EF4-FFF2-40B4-BE49-F238E27FC236}">
                <a16:creationId xmlns:a16="http://schemas.microsoft.com/office/drawing/2014/main" id="{7E40C68A-CA4E-44A4-85CD-91B3925C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BRAND CONCEPT</a:t>
            </a:r>
            <a:endParaRPr sz="97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品牌概念">
            <a:extLst xmlns:a="http://schemas.openxmlformats.org/drawingml/2006/main">
              <a:ext uri="{FF2B5EF4-FFF2-40B4-BE49-F238E27FC236}">
                <a16:creationId xmlns:a16="http://schemas.microsoft.com/office/drawing/2014/main" id="{91831B52-3E75-4EDA-9EEF-85E0051E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150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品牌概念</a:t>
            </a:r>
            <a:endParaRPr sz="24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YLVIE  /  WANFENG LAB  /  个人概念项目">
            <a:extLst xmlns:a="http://schemas.openxmlformats.org/drawingml/2006/main">
              <a:ext uri="{FF2B5EF4-FFF2-40B4-BE49-F238E27FC236}">
                <a16:creationId xmlns:a16="http://schemas.microsoft.com/office/drawing/2014/main" id="{165D3339-68AA-4F46-83F2-481F399F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246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Sylvia／韩祎飒</a:t>
            </a: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  /  WANFENG LAB  /  个人概念项目</a:t>
            </a:r>
            <a:endParaRPr sz="825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04 / 14">
            <a:extLst xmlns:a="http://schemas.openxmlformats.org/drawingml/2006/main">
              <a:ext uri="{FF2B5EF4-FFF2-40B4-BE49-F238E27FC236}">
                <a16:creationId xmlns:a16="http://schemas.microsoft.com/office/drawing/2014/main" id="{A46A483E-7A48-4EE0-AE3C-AB518907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04 / 14</a:t>
            </a:r>
            <a:endParaRPr sz="82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Emotion × Weather × Drink">
            <a:extLst xmlns:a="http://schemas.openxmlformats.org/drawingml/2006/main">
              <a:ext uri="{FF2B5EF4-FFF2-40B4-BE49-F238E27FC236}">
                <a16:creationId xmlns:a16="http://schemas.microsoft.com/office/drawing/2014/main" id="{BA3E59E6-5C5C-477A-B200-971A34CA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49372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493723"/>
                </a:solidFill>
                <a:latin typeface="Aptos"/>
                <a:ea typeface="Aptos"/>
                <a:cs typeface="Aptos"/>
              </a:rPr>
              <a:t>Emotion × Weather × Drink</a:t>
            </a:r>
            <a:endParaRPr sz="2700" b="1">
              <a:solidFill>
                <a:srgbClr val="49372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把难以言说的状态，转译为&#10;可选择的天气与饮品。">
            <a:extLst xmlns:a="http://schemas.openxmlformats.org/drawingml/2006/main">
              <a:ext uri="{FF2B5EF4-FFF2-40B4-BE49-F238E27FC236}">
                <a16:creationId xmlns:a16="http://schemas.microsoft.com/office/drawing/2014/main" id="{8E2D7A81-6438-41F2-84AF-3BA3776C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把难以言说的状态，转译为</a:t>
            </a:r>
            <a:endParaRPr sz="225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buNone/>
              <a:defRPr sz="22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可选择的天气与饮品。</a:t>
            </a:r>
            <a:endParaRPr sz="225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晚风">
            <a:extLst xmlns:a="http://schemas.openxmlformats.org/drawingml/2006/main">
              <a:ext uri="{FF2B5EF4-FFF2-40B4-BE49-F238E27FC236}">
                <a16:creationId xmlns:a16="http://schemas.microsoft.com/office/drawing/2014/main" id="{37519747-6702-4451-8534-01AD4E76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81375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晚风</a:t>
            </a:r>
            <a:endParaRPr sz="21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放松 / RELAX">
            <a:extLst xmlns:a="http://schemas.openxmlformats.org/drawingml/2006/main">
              <a:ext uri="{FF2B5EF4-FFF2-40B4-BE49-F238E27FC236}">
                <a16:creationId xmlns:a16="http://schemas.microsoft.com/office/drawing/2014/main" id="{2D636303-16FE-4C44-9D21-32E99BA1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放松 / RELAX</a:t>
            </a:r>
            <a:endParaRPr sz="1500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雨天">
            <a:extLst xmlns:a="http://schemas.openxmlformats.org/drawingml/2006/main">
              <a:ext uri="{FF2B5EF4-FFF2-40B4-BE49-F238E27FC236}">
                <a16:creationId xmlns:a16="http://schemas.microsoft.com/office/drawing/2014/main" id="{74986605-3D7F-44AC-8205-46A1750A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81375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雨天</a:t>
            </a:r>
            <a:endParaRPr sz="21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温暖 / WARM">
            <a:extLst xmlns:a="http://schemas.openxmlformats.org/drawingml/2006/main">
              <a:ext uri="{FF2B5EF4-FFF2-40B4-BE49-F238E27FC236}">
                <a16:creationId xmlns:a16="http://schemas.microsoft.com/office/drawing/2014/main" id="{FB3B4BA8-0CFA-42B7-8E3B-82B9D1B9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100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温暖 / WARM</a:t>
            </a:r>
            <a:endParaRPr sz="1500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晴天">
            <a:extLst xmlns:a="http://schemas.openxmlformats.org/drawingml/2006/main">
              <a:ext uri="{FF2B5EF4-FFF2-40B4-BE49-F238E27FC236}">
                <a16:creationId xmlns:a16="http://schemas.microsoft.com/office/drawing/2014/main" id="{A63D6AD4-040C-4ECE-A165-F4396306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晴天</a:t>
            </a:r>
            <a:endParaRPr sz="21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小确幸 / JOY">
            <a:extLst xmlns:a="http://schemas.openxmlformats.org/drawingml/2006/main">
              <a:ext uri="{FF2B5EF4-FFF2-40B4-BE49-F238E27FC236}">
                <a16:creationId xmlns:a16="http://schemas.microsoft.com/office/drawing/2014/main" id="{4AEF6914-9D9D-487C-9FF9-379DBB54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86325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小确幸 / JOY</a:t>
            </a:r>
            <a:endParaRPr sz="1500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星夜">
            <a:extLst xmlns:a="http://schemas.openxmlformats.org/drawingml/2006/main">
              <a:ext uri="{FF2B5EF4-FFF2-40B4-BE49-F238E27FC236}">
                <a16:creationId xmlns:a16="http://schemas.microsoft.com/office/drawing/2014/main" id="{2434AA12-9ADB-4680-B40A-BAA4090D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57700"/>
            <a:ext cx="2667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星夜</a:t>
            </a:r>
            <a:endParaRPr sz="21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安静 / QUIET">
            <a:extLst xmlns:a="http://schemas.openxmlformats.org/drawingml/2006/main">
              <a:ext uri="{FF2B5EF4-FFF2-40B4-BE49-F238E27FC236}">
                <a16:creationId xmlns:a16="http://schemas.microsoft.com/office/drawing/2014/main" id="{65568944-CF75-42F7-B738-474CAFF2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86325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安静 / QUIET</a:t>
            </a:r>
            <a:endParaRPr sz="1500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品牌定位：情绪饮品研究所">
            <a:extLst xmlns:a="http://schemas.openxmlformats.org/drawingml/2006/main">
              <a:ext uri="{FF2B5EF4-FFF2-40B4-BE49-F238E27FC236}">
                <a16:creationId xmlns:a16="http://schemas.microsoft.com/office/drawing/2014/main" id="{B7AA78D3-05F5-4BE6-83C1-0911799D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品牌定位：情绪饮品研究所</a:t>
            </a:r>
            <a:endParaRPr sz="16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6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61fe5842c4d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84319" y="1352550"/>
            <a:ext cx="3614738" cy="4819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9008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05">
            <a:extLst xmlns:a="http://schemas.openxmlformats.org/drawingml/2006/main">
              <a:ext uri="{FF2B5EF4-FFF2-40B4-BE49-F238E27FC236}">
                <a16:creationId xmlns:a16="http://schemas.microsoft.com/office/drawing/2014/main" id="{2D1614BA-7A07-4966-9DA1-2E90A7A2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05</a:t>
            </a:r>
            <a:endParaRPr sz="25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VISUAL IDENTITY">
            <a:extLst xmlns:a="http://schemas.openxmlformats.org/drawingml/2006/main">
              <a:ext uri="{FF2B5EF4-FFF2-40B4-BE49-F238E27FC236}">
                <a16:creationId xmlns:a16="http://schemas.microsoft.com/office/drawing/2014/main" id="{66801383-27E6-4217-B4A8-2F76F5C7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VISUAL IDENTITY</a:t>
            </a:r>
            <a:endParaRPr sz="97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视觉识别系统">
            <a:extLst xmlns:a="http://schemas.openxmlformats.org/drawingml/2006/main">
              <a:ext uri="{FF2B5EF4-FFF2-40B4-BE49-F238E27FC236}">
                <a16:creationId xmlns:a16="http://schemas.microsoft.com/office/drawing/2014/main" id="{E6673B40-888D-484C-AB1A-7F9B3955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150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视觉识别系统</a:t>
            </a:r>
            <a:endParaRPr sz="24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YLVIE  /  WANFENG LAB  /  个人概念项目">
            <a:extLst xmlns:a="http://schemas.openxmlformats.org/drawingml/2006/main">
              <a:ext uri="{FF2B5EF4-FFF2-40B4-BE49-F238E27FC236}">
                <a16:creationId xmlns:a16="http://schemas.microsoft.com/office/drawing/2014/main" id="{AEAF6F87-5770-4304-BC41-D85577A3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246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Sylvia／韩祎飒</a:t>
            </a: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  /  WANFENG LAB  /  个人概念项目</a:t>
            </a:r>
            <a:endParaRPr sz="825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05 / 14">
            <a:extLst xmlns:a="http://schemas.openxmlformats.org/drawingml/2006/main">
              <a:ext uri="{FF2B5EF4-FFF2-40B4-BE49-F238E27FC236}">
                <a16:creationId xmlns:a16="http://schemas.microsoft.com/office/drawing/2014/main" id="{E9030D45-5953-4B0F-8656-276B8271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05 / 14</a:t>
            </a:r>
            <a:endParaRPr sz="82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低饱和色彩与手绘符号，统一温柔的品牌语气">
            <a:extLst xmlns:a="http://schemas.openxmlformats.org/drawingml/2006/main">
              <a:ext uri="{FF2B5EF4-FFF2-40B4-BE49-F238E27FC236}">
                <a16:creationId xmlns:a16="http://schemas.microsoft.com/office/drawing/2014/main" id="{73D2ED7E-57FF-409B-987C-393EF23B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04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低饱和色彩与手绘符号，统一温柔的品牌语气</a:t>
            </a:r>
            <a:endParaRPr sz="21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4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b53770e1c42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139742"/>
            <a:ext cx="2524125" cy="1130717"/>
          </a:xfrm>
          <a:prstGeom xmlns:a="http://schemas.openxmlformats.org/drawingml/2006/main" prst="rect">
            <a:avLst/>
          </a:prstGeom>
        </p:spPr>
      </p:pic>
      <p:sp>
        <p:nvSpPr>
          <p:cNvPr id="8" name="标志与字体">
            <a:extLst xmlns:a="http://schemas.openxmlformats.org/drawingml/2006/main">
              <a:ext uri="{FF2B5EF4-FFF2-40B4-BE49-F238E27FC236}">
                <a16:creationId xmlns:a16="http://schemas.microsoft.com/office/drawing/2014/main" id="{FF592AEF-8D80-4458-BC1E-16D73E96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标志与字体</a:t>
            </a:r>
            <a:endParaRPr sz="16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杯形标志与原有字标建立识别，&#10;黑体正文承接产品与传播信息。">
            <a:extLst xmlns:a="http://schemas.openxmlformats.org/drawingml/2006/main">
              <a:ext uri="{FF2B5EF4-FFF2-40B4-BE49-F238E27FC236}">
                <a16:creationId xmlns:a16="http://schemas.microsoft.com/office/drawing/2014/main" id="{0FEFCF62-8631-4BB8-95B6-6EEA2658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52875"/>
            <a:ext cx="304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杯形标志与原有字标建立识别，</a:t>
            </a:r>
            <a:endParaRPr sz="150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buNone/>
              <a:def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黑体正文承接产品与传播信息。</a:t>
            </a:r>
            <a:endParaRPr sz="150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7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f3755328d45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38550" y="2305831"/>
            <a:ext cx="8039100" cy="1189063"/>
          </a:xfrm>
          <a:prstGeom xmlns:a="http://schemas.openxmlformats.org/drawingml/2006/main" prst="rect">
            <a:avLst/>
          </a:prstGeom>
        </p:spPr>
      </p:pic>
      <p:sp>
        <p:nvSpPr>
          <p:cNvPr id="11" name="情绪色彩">
            <a:extLst xmlns:a="http://schemas.openxmlformats.org/drawingml/2006/main">
              <a:ext uri="{FF2B5EF4-FFF2-40B4-BE49-F238E27FC236}">
                <a16:creationId xmlns:a16="http://schemas.microsoft.com/office/drawing/2014/main" id="{F2181959-7BA4-4340-BDDA-C9FD9DE5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90975"/>
            <a:ext cx="7734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情绪色彩</a:t>
            </a:r>
            <a:endParaRPr sz="16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晚风绿、草莓粉、星芋紫、奶茶棕构成系列主色；云雾蓝作为辅助色。">
            <a:extLst xmlns:a="http://schemas.openxmlformats.org/drawingml/2006/main">
              <a:ext uri="{FF2B5EF4-FFF2-40B4-BE49-F238E27FC236}">
                <a16:creationId xmlns:a16="http://schemas.microsoft.com/office/drawing/2014/main" id="{B8D961E6-F7B5-40B3-A4E9-E5D2D5FB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43400"/>
            <a:ext cx="773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晚风绿、草莓粉、星芋紫、奶茶棕构成系列主色；云雾蓝作为辅助色。</a:t>
            </a:r>
            <a:endParaRPr sz="150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0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712e388e94d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96253" y="5095875"/>
            <a:ext cx="9199493" cy="1104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2777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6">
            <a:extLst xmlns:a="http://schemas.openxmlformats.org/drawingml/2006/main">
              <a:ext uri="{FF2B5EF4-FFF2-40B4-BE49-F238E27FC236}">
                <a16:creationId xmlns:a16="http://schemas.microsoft.com/office/drawing/2014/main" id="{1409C1CB-9EF3-49BB-BD37-C6666169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06</a:t>
            </a:r>
            <a:endParaRPr sz="25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EMOTIONAL WEATHER">
            <a:extLst xmlns:a="http://schemas.openxmlformats.org/drawingml/2006/main">
              <a:ext uri="{FF2B5EF4-FFF2-40B4-BE49-F238E27FC236}">
                <a16:creationId xmlns:a16="http://schemas.microsoft.com/office/drawing/2014/main" id="{110975B1-AC9B-446D-8581-EE81B59F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EMOTIONAL WEATHER</a:t>
            </a:r>
            <a:endParaRPr sz="97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情绪天气系统">
            <a:extLst xmlns:a="http://schemas.openxmlformats.org/drawingml/2006/main">
              <a:ext uri="{FF2B5EF4-FFF2-40B4-BE49-F238E27FC236}">
                <a16:creationId xmlns:a16="http://schemas.microsoft.com/office/drawing/2014/main" id="{4B186904-944E-455E-BD86-74777802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150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情绪天气系统</a:t>
            </a:r>
            <a:endParaRPr sz="24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YLVIE  /  WANFENG LAB  /  个人概念项目">
            <a:extLst xmlns:a="http://schemas.openxmlformats.org/drawingml/2006/main">
              <a:ext uri="{FF2B5EF4-FFF2-40B4-BE49-F238E27FC236}">
                <a16:creationId xmlns:a16="http://schemas.microsoft.com/office/drawing/2014/main" id="{6FB10385-C232-41AF-953C-AD933E18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246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Sylvia／韩祎飒</a:t>
            </a: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  /  WANFENG LAB  /  个人概念项目</a:t>
            </a:r>
            <a:endParaRPr sz="825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06 / 14">
            <a:extLst xmlns:a="http://schemas.openxmlformats.org/drawingml/2006/main">
              <a:ext uri="{FF2B5EF4-FFF2-40B4-BE49-F238E27FC236}">
                <a16:creationId xmlns:a16="http://schemas.microsoft.com/office/drawing/2014/main" id="{5EA7C507-CECE-4822-B258-577B98FD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06 / 14</a:t>
            </a:r>
            <a:endParaRPr sz="82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f0a45abbd4f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1200" y="1304925"/>
            <a:ext cx="8229600" cy="4629150"/>
          </a:xfrm>
          <a:prstGeom xmlns:a="http://schemas.openxmlformats.org/drawingml/2006/main" prst="rect">
            <a:avLst/>
          </a:prstGeom>
        </p:spPr>
      </p:pic>
      <p:sp>
        <p:nvSpPr>
          <p:cNvPr id="7" name="晚风的放松、雨天的温暖、晴天的小确幸、星夜的安静。">
            <a:extLst xmlns:a="http://schemas.openxmlformats.org/drawingml/2006/main">
              <a:ext uri="{FF2B5EF4-FFF2-40B4-BE49-F238E27FC236}">
                <a16:creationId xmlns:a16="http://schemas.microsoft.com/office/drawing/2014/main" id="{6A57EFA4-46CD-4887-99A3-B4F9BAF8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116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晚风的放松、雨天的温暖、晴天的小确幸、星夜的安静。</a:t>
            </a:r>
            <a:endParaRPr sz="165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393530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07">
            <a:extLst xmlns:a="http://schemas.openxmlformats.org/drawingml/2006/main">
              <a:ext uri="{FF2B5EF4-FFF2-40B4-BE49-F238E27FC236}">
                <a16:creationId xmlns:a16="http://schemas.microsoft.com/office/drawing/2014/main" id="{ACC549E8-A664-430A-839C-B67A11BD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07</a:t>
            </a:r>
            <a:endParaRPr sz="25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PRODUCT + PACKAGING">
            <a:extLst xmlns:a="http://schemas.openxmlformats.org/drawingml/2006/main">
              <a:ext uri="{FF2B5EF4-FFF2-40B4-BE49-F238E27FC236}">
                <a16:creationId xmlns:a16="http://schemas.microsoft.com/office/drawing/2014/main" id="{A8AC8BC0-3445-4B1F-83EC-4F064F4B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PRODUCT + PACKAGING</a:t>
            </a:r>
            <a:endParaRPr sz="97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产品与包装">
            <a:extLst xmlns:a="http://schemas.openxmlformats.org/drawingml/2006/main">
              <a:ext uri="{FF2B5EF4-FFF2-40B4-BE49-F238E27FC236}">
                <a16:creationId xmlns:a16="http://schemas.microsoft.com/office/drawing/2014/main" id="{6B13DA53-3CBB-46EA-A266-CDDB9F02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150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产品与包装</a:t>
            </a:r>
            <a:endParaRPr sz="24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YLVIE  /  WANFENG LAB  /  个人概念项目">
            <a:extLst xmlns:a="http://schemas.openxmlformats.org/drawingml/2006/main">
              <a:ext uri="{FF2B5EF4-FFF2-40B4-BE49-F238E27FC236}">
                <a16:creationId xmlns:a16="http://schemas.microsoft.com/office/drawing/2014/main" id="{16FD8A36-B4FB-4541-9B95-603EF7F8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246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Sylvia／韩祎飒</a:t>
            </a: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  /  WANFENG LAB  /  个人概念项目</a:t>
            </a:r>
            <a:endParaRPr sz="825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07 / 14">
            <a:extLst xmlns:a="http://schemas.openxmlformats.org/drawingml/2006/main">
              <a:ext uri="{FF2B5EF4-FFF2-40B4-BE49-F238E27FC236}">
                <a16:creationId xmlns:a16="http://schemas.microsoft.com/office/drawing/2014/main" id="{7D77A805-9165-4EF9-BEF1-B3F37866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07 / 14</a:t>
            </a:r>
            <a:endParaRPr sz="82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四种情绪，四款风味，一套包装语言">
            <a:extLst xmlns:a="http://schemas.openxmlformats.org/drawingml/2006/main">
              <a:ext uri="{FF2B5EF4-FFF2-40B4-BE49-F238E27FC236}">
                <a16:creationId xmlns:a16="http://schemas.microsoft.com/office/drawing/2014/main" id="{5EF49357-80ED-4C19-A414-5F6BFF5F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1114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四种情绪，四款风味，一套包装语言</a:t>
            </a:r>
            <a:endParaRPr sz="202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晚风 / 放松">
            <a:extLst xmlns:a="http://schemas.openxmlformats.org/drawingml/2006/main">
              <a:ext uri="{FF2B5EF4-FFF2-40B4-BE49-F238E27FC236}">
                <a16:creationId xmlns:a16="http://schemas.microsoft.com/office/drawing/2014/main" id="{E025C0B7-0126-4EF7-99ED-A83A2BA4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81175"/>
            <a:ext cx="268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晚风 / 放松</a:t>
            </a:r>
            <a:endParaRPr sz="172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柠檬薄荷气泡饮">
            <a:extLst xmlns:a="http://schemas.openxmlformats.org/drawingml/2006/main">
              <a:ext uri="{FF2B5EF4-FFF2-40B4-BE49-F238E27FC236}">
                <a16:creationId xmlns:a16="http://schemas.microsoft.com/office/drawing/2014/main" id="{4901072C-BBA0-4F5D-A5F8-A3746ACB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24075"/>
            <a:ext cx="268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柠檬薄荷气泡饮</a:t>
            </a:r>
            <a:endParaRPr sz="150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2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6460f8b0f45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2774" y="2486025"/>
            <a:ext cx="2250151" cy="2028825"/>
          </a:xfrm>
          <a:prstGeom xmlns:a="http://schemas.openxmlformats.org/drawingml/2006/main" prst="rect">
            <a:avLst/>
          </a:prstGeom>
        </p:spPr>
      </p:pic>
      <p:sp>
        <p:nvSpPr>
          <p:cNvPr id="10" name="雨天 / 温暖">
            <a:extLst xmlns:a="http://schemas.openxmlformats.org/drawingml/2006/main">
              <a:ext uri="{FF2B5EF4-FFF2-40B4-BE49-F238E27FC236}">
                <a16:creationId xmlns:a16="http://schemas.microsoft.com/office/drawing/2014/main" id="{DC096508-91FC-4D21-95CB-E42A1E24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781175"/>
            <a:ext cx="268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雨天 / 温暖</a:t>
            </a:r>
            <a:endParaRPr sz="172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热巧克力">
            <a:extLst xmlns:a="http://schemas.openxmlformats.org/drawingml/2006/main">
              <a:ext uri="{FF2B5EF4-FFF2-40B4-BE49-F238E27FC236}">
                <a16:creationId xmlns:a16="http://schemas.microsoft.com/office/drawing/2014/main" id="{BC0F1ABC-5E85-43A6-8EFB-44E5271F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24075"/>
            <a:ext cx="268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热巧克力</a:t>
            </a:r>
            <a:endParaRPr sz="150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5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aebd73e1e49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48625" y="2486025"/>
            <a:ext cx="2256299" cy="2028825"/>
          </a:xfrm>
          <a:prstGeom xmlns:a="http://schemas.openxmlformats.org/drawingml/2006/main" prst="rect">
            <a:avLst/>
          </a:prstGeom>
        </p:spPr>
      </p:pic>
      <p:sp>
        <p:nvSpPr>
          <p:cNvPr id="13" name="小确幸 / 开心">
            <a:extLst xmlns:a="http://schemas.openxmlformats.org/drawingml/2006/main">
              <a:ext uri="{FF2B5EF4-FFF2-40B4-BE49-F238E27FC236}">
                <a16:creationId xmlns:a16="http://schemas.microsoft.com/office/drawing/2014/main" id="{5FB7F49C-14D3-43BD-8C91-6D30B1C4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81175"/>
            <a:ext cx="268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小确幸 / 开心</a:t>
            </a:r>
            <a:endParaRPr sz="172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草莓酸奶饮">
            <a:extLst xmlns:a="http://schemas.openxmlformats.org/drawingml/2006/main">
              <a:ext uri="{FF2B5EF4-FFF2-40B4-BE49-F238E27FC236}">
                <a16:creationId xmlns:a16="http://schemas.microsoft.com/office/drawing/2014/main" id="{DD812068-4364-4007-B1DB-0773E12E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24075"/>
            <a:ext cx="268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草莓酸奶饮</a:t>
            </a:r>
            <a:endParaRPr sz="150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8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c4030ecdb42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74476" y="2486025"/>
            <a:ext cx="2262447" cy="2028825"/>
          </a:xfrm>
          <a:prstGeom xmlns:a="http://schemas.openxmlformats.org/drawingml/2006/main" prst="rect">
            <a:avLst/>
          </a:prstGeom>
        </p:spPr>
      </p:pic>
      <p:sp>
        <p:nvSpPr>
          <p:cNvPr id="16" name="星夜 / 安静">
            <a:extLst xmlns:a="http://schemas.openxmlformats.org/drawingml/2006/main">
              <a:ext uri="{FF2B5EF4-FFF2-40B4-BE49-F238E27FC236}">
                <a16:creationId xmlns:a16="http://schemas.microsoft.com/office/drawing/2014/main" id="{D00A2E87-7C8E-407C-931E-C5D5D436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81175"/>
            <a:ext cx="268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星夜 / 安静</a:t>
            </a:r>
            <a:endParaRPr sz="172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蓝莓蜂蜜饮">
            <a:extLst xmlns:a="http://schemas.openxmlformats.org/drawingml/2006/main">
              <a:ext uri="{FF2B5EF4-FFF2-40B4-BE49-F238E27FC236}">
                <a16:creationId xmlns:a16="http://schemas.microsoft.com/office/drawing/2014/main" id="{CF4F45FF-3386-452B-8AD3-9D66F658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24075"/>
            <a:ext cx="2686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蓝莓蜂蜜饮</a:t>
            </a:r>
            <a:endParaRPr sz="150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1" name="图片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1257f1eae44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94179" y="2486025"/>
            <a:ext cx="2280891" cy="2028825"/>
          </a:xfrm>
          <a:prstGeom xmlns:a="http://schemas.openxmlformats.org/drawingml/2006/main" prst="rect">
            <a:avLst/>
          </a:prstGeom>
        </p:spPr>
      </p:pic>
      <p:sp>
        <p:nvSpPr>
          <p:cNvPr id="19" name="包装延展">
            <a:extLst xmlns:a="http://schemas.openxmlformats.org/drawingml/2006/main">
              <a:ext uri="{FF2B5EF4-FFF2-40B4-BE49-F238E27FC236}">
                <a16:creationId xmlns:a16="http://schemas.microsoft.com/office/drawing/2014/main" id="{FFD84C9E-DC22-4019-A03B-099DFA03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包装延展</a:t>
            </a:r>
            <a:endParaRPr sz="15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统一标志、系列色与情绪符号，适配不同外带方式">
            <a:extLst xmlns:a="http://schemas.openxmlformats.org/drawingml/2006/main">
              <a:ext uri="{FF2B5EF4-FFF2-40B4-BE49-F238E27FC236}">
                <a16:creationId xmlns:a16="http://schemas.microsoft.com/office/drawing/2014/main" id="{C96C8C0B-8388-467E-8078-7F5FB7CC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76775"/>
            <a:ext cx="95916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统一标志、系列色与情绪符号，适配不同外带方式</a:t>
            </a:r>
            <a:endParaRPr sz="150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4" name="图片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8ae55ada54f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0673" y="5105400"/>
            <a:ext cx="1181853" cy="981075"/>
          </a:xfrm>
          <a:prstGeom xmlns:a="http://schemas.openxmlformats.org/drawingml/2006/main" prst="rect">
            <a:avLst/>
          </a:prstGeom>
        </p:spPr>
      </p:pic>
      <p:sp>
        <p:nvSpPr>
          <p:cNvPr id="22" name="外带袋">
            <a:extLst xmlns:a="http://schemas.openxmlformats.org/drawingml/2006/main">
              <a:ext uri="{FF2B5EF4-FFF2-40B4-BE49-F238E27FC236}">
                <a16:creationId xmlns:a16="http://schemas.microsoft.com/office/drawing/2014/main" id="{1A80A1C2-147B-41DE-A175-1540F3C5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62675"/>
            <a:ext cx="1743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外带袋</a:t>
            </a:r>
            <a:endParaRPr sz="12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6" name="图片 5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93abe351a44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98954" y="5105400"/>
            <a:ext cx="917191" cy="981075"/>
          </a:xfrm>
          <a:prstGeom xmlns:a="http://schemas.openxmlformats.org/drawingml/2006/main" prst="rect">
            <a:avLst/>
          </a:prstGeom>
        </p:spPr>
      </p:pic>
      <p:sp>
        <p:nvSpPr>
          <p:cNvPr id="24" name="打包盒">
            <a:extLst xmlns:a="http://schemas.openxmlformats.org/drawingml/2006/main">
              <a:ext uri="{FF2B5EF4-FFF2-40B4-BE49-F238E27FC236}">
                <a16:creationId xmlns:a16="http://schemas.microsoft.com/office/drawing/2014/main" id="{A9EE74A5-4835-4DFE-A171-7297E21A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162675"/>
            <a:ext cx="1743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打包盒</a:t>
            </a:r>
            <a:endParaRPr sz="12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8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c9d44e5b344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1070" y="5105400"/>
            <a:ext cx="784860" cy="981075"/>
          </a:xfrm>
          <a:prstGeom xmlns:a="http://schemas.openxmlformats.org/drawingml/2006/main" prst="rect">
            <a:avLst/>
          </a:prstGeom>
        </p:spPr>
      </p:pic>
      <p:sp>
        <p:nvSpPr>
          <p:cNvPr id="26" name="瓶装饮品">
            <a:extLst xmlns:a="http://schemas.openxmlformats.org/drawingml/2006/main">
              <a:ext uri="{FF2B5EF4-FFF2-40B4-BE49-F238E27FC236}">
                <a16:creationId xmlns:a16="http://schemas.microsoft.com/office/drawing/2014/main" id="{D2175B1C-7B2A-45D9-BC6A-3A4FB34E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62675"/>
            <a:ext cx="1743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瓶装饮品</a:t>
            </a:r>
            <a:endParaRPr sz="12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0" name="图片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fd4dfc12bd4d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3331" y="5105400"/>
            <a:ext cx="812239" cy="981075"/>
          </a:xfrm>
          <a:prstGeom xmlns:a="http://schemas.openxmlformats.org/drawingml/2006/main" prst="rect">
            <a:avLst/>
          </a:prstGeom>
        </p:spPr>
      </p:pic>
      <p:sp>
        <p:nvSpPr>
          <p:cNvPr id="28" name="封口贴纸">
            <a:extLst xmlns:a="http://schemas.openxmlformats.org/drawingml/2006/main">
              <a:ext uri="{FF2B5EF4-FFF2-40B4-BE49-F238E27FC236}">
                <a16:creationId xmlns:a16="http://schemas.microsoft.com/office/drawing/2014/main" id="{88913463-F103-45F2-97E9-F31CAEB6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162675"/>
            <a:ext cx="1743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封口贴纸</a:t>
            </a:r>
            <a:endParaRPr sz="12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2" name="图片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d5ccef76149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98651" y="5105400"/>
            <a:ext cx="433498" cy="981075"/>
          </a:xfrm>
          <a:prstGeom xmlns:a="http://schemas.openxmlformats.org/drawingml/2006/main" prst="rect">
            <a:avLst/>
          </a:prstGeom>
        </p:spPr>
      </p:pic>
      <p:sp>
        <p:nvSpPr>
          <p:cNvPr id="30" name="吸管套">
            <a:extLst xmlns:a="http://schemas.openxmlformats.org/drawingml/2006/main">
              <a:ext uri="{FF2B5EF4-FFF2-40B4-BE49-F238E27FC236}">
                <a16:creationId xmlns:a16="http://schemas.microsoft.com/office/drawing/2014/main" id="{26ED1C56-2182-4371-816C-426F87B7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162675"/>
            <a:ext cx="1743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吸管套</a:t>
            </a:r>
            <a:endParaRPr sz="12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4" name="图片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a4da6738642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3239" y="5105400"/>
            <a:ext cx="1136222" cy="981075"/>
          </a:xfrm>
          <a:prstGeom xmlns:a="http://schemas.openxmlformats.org/drawingml/2006/main" prst="rect">
            <a:avLst/>
          </a:prstGeom>
        </p:spPr>
      </p:pic>
      <p:sp>
        <p:nvSpPr>
          <p:cNvPr id="32" name="杯托">
            <a:extLst xmlns:a="http://schemas.openxmlformats.org/drawingml/2006/main">
              <a:ext uri="{FF2B5EF4-FFF2-40B4-BE49-F238E27FC236}">
                <a16:creationId xmlns:a16="http://schemas.microsoft.com/office/drawing/2014/main" id="{03838A76-B5B4-4BAE-90F9-CB624BCA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62675"/>
            <a:ext cx="1743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杯托</a:t>
            </a:r>
            <a:endParaRPr sz="12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26327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08">
            <a:extLst xmlns:a="http://schemas.openxmlformats.org/drawingml/2006/main">
              <a:ext uri="{FF2B5EF4-FFF2-40B4-BE49-F238E27FC236}">
                <a16:creationId xmlns:a16="http://schemas.microsoft.com/office/drawing/2014/main" id="{9A5805C1-6A7E-4CCD-9FF1-8D1054DD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08</a:t>
            </a:r>
            <a:endParaRPr sz="25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CAMPAIGN KV / POSTER">
            <a:extLst xmlns:a="http://schemas.openxmlformats.org/drawingml/2006/main">
              <a:ext uri="{FF2B5EF4-FFF2-40B4-BE49-F238E27FC236}">
                <a16:creationId xmlns:a16="http://schemas.microsoft.com/office/drawing/2014/main" id="{FB3A5A2E-727B-4216-B805-F2A0FDFA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CAMPAIGN KV / POSTER</a:t>
            </a:r>
            <a:endParaRPr sz="97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海报设计">
            <a:extLst xmlns:a="http://schemas.openxmlformats.org/drawingml/2006/main">
              <a:ext uri="{FF2B5EF4-FFF2-40B4-BE49-F238E27FC236}">
                <a16:creationId xmlns:a16="http://schemas.microsoft.com/office/drawing/2014/main" id="{3915B7ED-C70E-4698-B11F-FDF02BD3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150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海报设计</a:t>
            </a:r>
            <a:endParaRPr sz="24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YLVIE  /  WANFENG LAB  /  个人概念项目">
            <a:extLst xmlns:a="http://schemas.openxmlformats.org/drawingml/2006/main">
              <a:ext uri="{FF2B5EF4-FFF2-40B4-BE49-F238E27FC236}">
                <a16:creationId xmlns:a16="http://schemas.microsoft.com/office/drawing/2014/main" id="{5E95A79F-5D05-4E8A-B9F5-B3BC8818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246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Sylvia／韩祎飒</a:t>
            </a: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  /  WANFENG LAB  /  个人概念项目</a:t>
            </a:r>
            <a:endParaRPr sz="825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08 / 14">
            <a:extLst xmlns:a="http://schemas.openxmlformats.org/drawingml/2006/main">
              <a:ext uri="{FF2B5EF4-FFF2-40B4-BE49-F238E27FC236}">
                <a16:creationId xmlns:a16="http://schemas.microsoft.com/office/drawing/2014/main" id="{58E682E1-9003-44FA-9696-AFE0ED9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08 / 14</a:t>
            </a:r>
            <a:endParaRPr sz="82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喝下晚风，放下烦恼。">
            <a:extLst xmlns:a="http://schemas.openxmlformats.org/drawingml/2006/main">
              <a:ext uri="{FF2B5EF4-FFF2-40B4-BE49-F238E27FC236}">
                <a16:creationId xmlns:a16="http://schemas.microsoft.com/office/drawing/2014/main" id="{20DC79A7-5422-490D-8C96-826A8AC9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4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喝下晚风，放下烦恼。</a:t>
            </a:r>
            <a:endParaRPr sz="22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6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2da87d3704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3348" y="1952625"/>
            <a:ext cx="10845305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112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9">
            <a:extLst xmlns:a="http://schemas.openxmlformats.org/drawingml/2006/main">
              <a:ext uri="{FF2B5EF4-FFF2-40B4-BE49-F238E27FC236}">
                <a16:creationId xmlns:a16="http://schemas.microsoft.com/office/drawing/2014/main" id="{13AFC6E3-A065-4742-90D0-BC7DF3E5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09</a:t>
            </a:r>
            <a:endParaRPr sz="25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BRAND FILM">
            <a:extLst xmlns:a="http://schemas.openxmlformats.org/drawingml/2006/main">
              <a:ext uri="{FF2B5EF4-FFF2-40B4-BE49-F238E27FC236}">
                <a16:creationId xmlns:a16="http://schemas.microsoft.com/office/drawing/2014/main" id="{959DDF19-F8CF-43A9-9126-43C439D4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BRAND FILM</a:t>
            </a:r>
            <a:endParaRPr sz="97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品牌短片关键帧">
            <a:extLst xmlns:a="http://schemas.openxmlformats.org/drawingml/2006/main">
              <a:ext uri="{FF2B5EF4-FFF2-40B4-BE49-F238E27FC236}">
                <a16:creationId xmlns:a16="http://schemas.microsoft.com/office/drawing/2014/main" id="{8608FA79-2F8F-4AEB-812B-7A78AB9B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150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品牌短片关键帧</a:t>
            </a:r>
            <a:endParaRPr sz="24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YLVIE  /  WANFENG LAB  /  个人概念项目">
            <a:extLst xmlns:a="http://schemas.openxmlformats.org/drawingml/2006/main">
              <a:ext uri="{FF2B5EF4-FFF2-40B4-BE49-F238E27FC236}">
                <a16:creationId xmlns:a16="http://schemas.microsoft.com/office/drawing/2014/main" id="{CD20E14D-E0F0-4183-A051-9CECBEF3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246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Sylvia／韩祎飒</a:t>
            </a: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  /  WANFENG LAB  /  个人概念项目</a:t>
            </a:r>
            <a:endParaRPr sz="825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09 / 14">
            <a:extLst xmlns:a="http://schemas.openxmlformats.org/drawingml/2006/main">
              <a:ext uri="{FF2B5EF4-FFF2-40B4-BE49-F238E27FC236}">
                <a16:creationId xmlns:a16="http://schemas.microsoft.com/office/drawing/2014/main" id="{DADA98EE-A16D-4FA0-ABEC-7B48F818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09 / 14</a:t>
            </a:r>
            <a:endParaRPr sz="82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7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1b8f10a5f749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72098" y="1276350"/>
            <a:ext cx="8246533" cy="4638675"/>
          </a:xfrm>
          <a:prstGeom xmlns:a="http://schemas.openxmlformats.org/drawingml/2006/main" prst="rect">
            <a:avLst/>
          </a:prstGeom>
        </p:spPr>
      </p:pic>
      <p:sp>
        <p:nvSpPr>
          <p:cNvPr id="7" name="05s 概念短片关键帧">
            <a:extLst xmlns:a="http://schemas.openxmlformats.org/drawingml/2006/main">
              <a:ext uri="{FF2B5EF4-FFF2-40B4-BE49-F238E27FC236}">
                <a16:creationId xmlns:a16="http://schemas.microsoft.com/office/drawing/2014/main" id="{B0A99019-41E7-4A8A-9B5F-B40A8C6F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05s 概念短片关键帧</a:t>
            </a:r>
            <a:endParaRPr sz="16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风、光与液体，延续晚风的放松感">
            <a:extLst xmlns:a="http://schemas.openxmlformats.org/drawingml/2006/main">
              <a:ext uri="{FF2B5EF4-FFF2-40B4-BE49-F238E27FC236}">
                <a16:creationId xmlns:a16="http://schemas.microsoft.com/office/drawing/2014/main" id="{E6DC8BB6-0F97-41B8-A6B2-82658E7C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76950"/>
            <a:ext cx="5495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风、光与液体，延续晚风的放松感</a:t>
            </a:r>
            <a:endParaRPr sz="1575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0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8f8ef09674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96110" y="1276350"/>
            <a:ext cx="8322310" cy="46843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3924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10">
            <a:extLst xmlns:a="http://schemas.openxmlformats.org/drawingml/2006/main">
              <a:ext uri="{FF2B5EF4-FFF2-40B4-BE49-F238E27FC236}">
                <a16:creationId xmlns:a16="http://schemas.microsoft.com/office/drawing/2014/main" id="{0CFF2864-D561-4A34-9530-3318A57C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25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SOCIAL CONTENT">
            <a:extLst xmlns:a="http://schemas.openxmlformats.org/drawingml/2006/main">
              <a:ext uri="{FF2B5EF4-FFF2-40B4-BE49-F238E27FC236}">
                <a16:creationId xmlns:a16="http://schemas.microsoft.com/office/drawing/2014/main" id="{C1C29C7C-988E-429E-B546-6DC14A38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SOCIAL CONTENT</a:t>
            </a:r>
            <a:endParaRPr sz="97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社媒视觉">
            <a:extLst xmlns:a="http://schemas.openxmlformats.org/drawingml/2006/main">
              <a:ext uri="{FF2B5EF4-FFF2-40B4-BE49-F238E27FC236}">
                <a16:creationId xmlns:a16="http://schemas.microsoft.com/office/drawing/2014/main" id="{3444C780-4B0E-427D-833F-3181E8C0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150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社媒视觉</a:t>
            </a:r>
            <a:endParaRPr sz="24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YLVIE  /  WANFENG LAB  /  个人概念项目">
            <a:extLst xmlns:a="http://schemas.openxmlformats.org/drawingml/2006/main">
              <a:ext uri="{FF2B5EF4-FFF2-40B4-BE49-F238E27FC236}">
                <a16:creationId xmlns:a16="http://schemas.microsoft.com/office/drawing/2014/main" id="{82025A11-C712-4EA6-9C61-75CD0A50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246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Sylvia／韩祎飒</a:t>
            </a: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  /  WANFENG LAB  /  个人概念项目</a:t>
            </a:r>
            <a:endParaRPr sz="825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10 / 14">
            <a:extLst xmlns:a="http://schemas.openxmlformats.org/drawingml/2006/main">
              <a:ext uri="{FF2B5EF4-FFF2-40B4-BE49-F238E27FC236}">
                <a16:creationId xmlns:a16="http://schemas.microsoft.com/office/drawing/2014/main" id="{B0BD469A-C322-4FF5-9585-67B421CD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10 / 14</a:t>
            </a:r>
            <a:endParaRPr sz="82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情绪内容贯穿竖版封面、短视频、图文与话题长图">
            <a:extLst xmlns:a="http://schemas.openxmlformats.org/drawingml/2006/main">
              <a:ext uri="{FF2B5EF4-FFF2-40B4-BE49-F238E27FC236}">
                <a16:creationId xmlns:a16="http://schemas.microsoft.com/office/drawing/2014/main" id="{0BBA4046-A16A-4759-863F-74D1DFC8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情绪内容贯穿竖版封面、短视频、图文与话题长图</a:t>
            </a:r>
            <a:endParaRPr sz="19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小红书 / 竖版封面">
            <a:extLst xmlns:a="http://schemas.openxmlformats.org/drawingml/2006/main">
              <a:ext uri="{FF2B5EF4-FFF2-40B4-BE49-F238E27FC236}">
                <a16:creationId xmlns:a16="http://schemas.microsoft.com/office/drawing/2014/main" id="{E29D4747-E609-4F8F-B0C6-58B68A34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小红书 / 竖版封面</a:t>
            </a:r>
            <a:endParaRPr sz="15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抖音 / 视频封面">
            <a:extLst xmlns:a="http://schemas.openxmlformats.org/drawingml/2006/main">
              <a:ext uri="{FF2B5EF4-FFF2-40B4-BE49-F238E27FC236}">
                <a16:creationId xmlns:a16="http://schemas.microsoft.com/office/drawing/2014/main" id="{56653DFE-A29A-4EEB-8465-F6C4439A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762125"/>
            <a:ext cx="2381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抖音 / 视频封面</a:t>
            </a:r>
            <a:endParaRPr sz="15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公众号 / 图文">
            <a:extLst xmlns:a="http://schemas.openxmlformats.org/drawingml/2006/main">
              <a:ext uri="{FF2B5EF4-FFF2-40B4-BE49-F238E27FC236}">
                <a16:creationId xmlns:a16="http://schemas.microsoft.com/office/drawing/2014/main" id="{494634F4-3F08-41D3-B00A-333FA017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62125"/>
            <a:ext cx="2695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公众号 / 图文</a:t>
            </a:r>
            <a:endParaRPr sz="15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微博 / 话题长图">
            <a:extLst xmlns:a="http://schemas.openxmlformats.org/drawingml/2006/main">
              <a:ext uri="{FF2B5EF4-FFF2-40B4-BE49-F238E27FC236}">
                <a16:creationId xmlns:a16="http://schemas.microsoft.com/office/drawing/2014/main" id="{C3C1C348-5737-4C25-876D-FF0E1A8C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62125"/>
            <a:ext cx="2238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微博 / 话题长图</a:t>
            </a:r>
            <a:endParaRPr sz="15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9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15e7d0b0747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2585" y="2133600"/>
            <a:ext cx="3064880" cy="2952750"/>
          </a:xfrm>
          <a:prstGeom xmlns:a="http://schemas.openxmlformats.org/drawingml/2006/main" prst="rect">
            <a:avLst/>
          </a:prstGeom>
        </p:spPr>
      </p:pic>
      <p:pic>
        <p:nvPicPr>
          <p:cNvPr id="40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3f2d3bf854d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8315" y="2133600"/>
            <a:ext cx="2235120" cy="2952750"/>
          </a:xfrm>
          <a:prstGeom xmlns:a="http://schemas.openxmlformats.org/drawingml/2006/main" prst="rect">
            <a:avLst/>
          </a:prstGeom>
        </p:spPr>
      </p:pic>
      <p:pic>
        <p:nvPicPr>
          <p:cNvPr id="41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af9d77c484d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8563" y="2133600"/>
            <a:ext cx="2330549" cy="4124325"/>
          </a:xfrm>
          <a:prstGeom xmlns:a="http://schemas.openxmlformats.org/drawingml/2006/main" prst="rect">
            <a:avLst/>
          </a:prstGeom>
        </p:spPr>
      </p:pic>
      <p:pic>
        <p:nvPicPr>
          <p:cNvPr id="42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137610f344e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36032" y="2133600"/>
            <a:ext cx="1492486" cy="4124325"/>
          </a:xfrm>
          <a:prstGeom xmlns:a="http://schemas.openxmlformats.org/drawingml/2006/main" prst="rect">
            <a:avLst/>
          </a:prstGeom>
        </p:spPr>
      </p:pic>
      <p:sp>
        <p:nvSpPr>
          <p:cNvPr id="15" name="方图适配">
            <a:extLst xmlns:a="http://schemas.openxmlformats.org/drawingml/2006/main">
              <a:ext uri="{FF2B5EF4-FFF2-40B4-BE49-F238E27FC236}">
                <a16:creationId xmlns:a16="http://schemas.microsoft.com/office/drawing/2014/main" id="{D4F7E178-E7EB-45AA-AFFB-2766F343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81600"/>
            <a:ext cx="5743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方图适配</a:t>
            </a:r>
            <a:endParaRPr sz="1275" b="1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4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4d50753c840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0915" y="5457825"/>
            <a:ext cx="970844" cy="914400"/>
          </a:xfrm>
          <a:prstGeom xmlns:a="http://schemas.openxmlformats.org/drawingml/2006/main" prst="rect">
            <a:avLst/>
          </a:prstGeom>
        </p:spPr>
      </p:pic>
      <p:pic>
        <p:nvPicPr>
          <p:cNvPr id="45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1389f5d734e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38010" y="5457825"/>
            <a:ext cx="1010356" cy="914400"/>
          </a:xfrm>
          <a:prstGeom xmlns:a="http://schemas.openxmlformats.org/drawingml/2006/main" prst="rect">
            <a:avLst/>
          </a:prstGeom>
        </p:spPr>
      </p:pic>
      <p:pic>
        <p:nvPicPr>
          <p:cNvPr id="46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20696c82846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38726" y="5457825"/>
            <a:ext cx="942622" cy="914400"/>
          </a:xfrm>
          <a:prstGeom xmlns:a="http://schemas.openxmlformats.org/drawingml/2006/main" prst="rect">
            <a:avLst/>
          </a:prstGeom>
        </p:spPr>
      </p:pic>
      <p:pic>
        <p:nvPicPr>
          <p:cNvPr id="47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a4b198cb848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8888" y="5457825"/>
            <a:ext cx="1016000" cy="91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862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11">
            <a:extLst xmlns:a="http://schemas.openxmlformats.org/drawingml/2006/main">
              <a:ext uri="{FF2B5EF4-FFF2-40B4-BE49-F238E27FC236}">
                <a16:creationId xmlns:a16="http://schemas.microsoft.com/office/drawing/2014/main" id="{508068BE-E796-4C10-B732-44EE689C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11</a:t>
            </a:r>
            <a:endParaRPr sz="25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BRAND TOUCHPOINTS">
            <a:extLst xmlns:a="http://schemas.openxmlformats.org/drawingml/2006/main">
              <a:ext uri="{FF2B5EF4-FFF2-40B4-BE49-F238E27FC236}">
                <a16:creationId xmlns:a16="http://schemas.microsoft.com/office/drawing/2014/main" id="{EBA6C2B1-003A-4382-A429-B8E12CA7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BRAND TOUCHPOINTS</a:t>
            </a:r>
            <a:endParaRPr sz="97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周边延展">
            <a:extLst xmlns:a="http://schemas.openxmlformats.org/drawingml/2006/main">
              <a:ext uri="{FF2B5EF4-FFF2-40B4-BE49-F238E27FC236}">
                <a16:creationId xmlns:a16="http://schemas.microsoft.com/office/drawing/2014/main" id="{4C7AC033-7D6B-4614-BAFD-57A9EF9C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150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周边延展</a:t>
            </a:r>
            <a:endParaRPr sz="24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YLVIE  /  WANFENG LAB  /  个人概念项目">
            <a:extLst xmlns:a="http://schemas.openxmlformats.org/drawingml/2006/main">
              <a:ext uri="{FF2B5EF4-FFF2-40B4-BE49-F238E27FC236}">
                <a16:creationId xmlns:a16="http://schemas.microsoft.com/office/drawing/2014/main" id="{0CB08E66-6245-4DE7-A38A-F3B96B14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246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Sylvia／韩祎飒</a:t>
            </a: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  /  WANFENG LAB  /  个人概念项目</a:t>
            </a:r>
            <a:endParaRPr sz="825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11 / 14">
            <a:extLst xmlns:a="http://schemas.openxmlformats.org/drawingml/2006/main">
              <a:ext uri="{FF2B5EF4-FFF2-40B4-BE49-F238E27FC236}">
                <a16:creationId xmlns:a16="http://schemas.microsoft.com/office/drawing/2014/main" id="{B9007165-1CBA-481F-A0F7-A947FE25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11 / 14</a:t>
            </a:r>
            <a:endParaRPr sz="82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让情绪陪伴延续到日常携带、记录与赠礼">
            <a:extLst xmlns:a="http://schemas.openxmlformats.org/drawingml/2006/main">
              <a:ext uri="{FF2B5EF4-FFF2-40B4-BE49-F238E27FC236}">
                <a16:creationId xmlns:a16="http://schemas.microsoft.com/office/drawing/2014/main" id="{D70A1D02-EE26-402E-9B42-13310219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4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让情绪陪伴延续到日常携带、记录与赠礼</a:t>
            </a:r>
            <a:endParaRPr sz="202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5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e1559e65846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120178"/>
            <a:ext cx="3333750" cy="2684318"/>
          </a:xfrm>
          <a:prstGeom xmlns:a="http://schemas.openxmlformats.org/drawingml/2006/main" prst="rect">
            <a:avLst/>
          </a:prstGeom>
        </p:spPr>
      </p:pic>
      <p:sp>
        <p:nvSpPr>
          <p:cNvPr id="8" name="帆布袋 / 日常携带">
            <a:extLst xmlns:a="http://schemas.openxmlformats.org/drawingml/2006/main">
              <a:ext uri="{FF2B5EF4-FFF2-40B4-BE49-F238E27FC236}">
                <a16:creationId xmlns:a16="http://schemas.microsoft.com/office/drawing/2014/main" id="{9A1B241D-7B1F-4801-ABCE-9007E642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帆布袋 / 日常携带</a:t>
            </a:r>
            <a:endParaRPr sz="172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用系列色与手绘符号，&#10;延续饮品之外的品牌记忆。">
            <a:extLst xmlns:a="http://schemas.openxmlformats.org/drawingml/2006/main">
              <a:ext uri="{FF2B5EF4-FFF2-40B4-BE49-F238E27FC236}">
                <a16:creationId xmlns:a16="http://schemas.microsoft.com/office/drawing/2014/main" id="{46003268-02DC-4EDD-B8C2-798994CB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333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用系列色与手绘符号，</a:t>
            </a:r>
            <a:endParaRPr sz="150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buNone/>
              <a:def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延续饮品之外的品牌记忆。</a:t>
            </a:r>
            <a:endParaRPr sz="150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8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525a5a0314b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8501" y="1943100"/>
            <a:ext cx="1490048" cy="1162050"/>
          </a:xfrm>
          <a:prstGeom xmlns:a="http://schemas.openxmlformats.org/drawingml/2006/main" prst="rect">
            <a:avLst/>
          </a:prstGeom>
        </p:spPr>
      </p:pic>
      <p:sp>
        <p:nvSpPr>
          <p:cNvPr id="11" name="杯套 / 杯贴">
            <a:extLst xmlns:a="http://schemas.openxmlformats.org/drawingml/2006/main">
              <a:ext uri="{FF2B5EF4-FFF2-40B4-BE49-F238E27FC236}">
                <a16:creationId xmlns:a16="http://schemas.microsoft.com/office/drawing/2014/main" id="{207723F3-4DF9-4E0B-AF88-51E86882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432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杯套 / 杯贴</a:t>
            </a:r>
            <a:endParaRPr sz="12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0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61dd710994e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2422" y="1943100"/>
            <a:ext cx="1405706" cy="1162050"/>
          </a:xfrm>
          <a:prstGeom xmlns:a="http://schemas.openxmlformats.org/drawingml/2006/main" prst="rect">
            <a:avLst/>
          </a:prstGeom>
        </p:spPr>
      </p:pic>
      <p:sp>
        <p:nvSpPr>
          <p:cNvPr id="13" name="贴纸">
            <a:extLst xmlns:a="http://schemas.openxmlformats.org/drawingml/2006/main">
              <a:ext uri="{FF2B5EF4-FFF2-40B4-BE49-F238E27FC236}">
                <a16:creationId xmlns:a16="http://schemas.microsoft.com/office/drawing/2014/main" id="{1501CC06-00E3-4380-851D-DEA04F05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432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贴纸</a:t>
            </a:r>
            <a:endParaRPr sz="12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2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c32e4849041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6972" y="1943100"/>
            <a:ext cx="1340106" cy="1162050"/>
          </a:xfrm>
          <a:prstGeom xmlns:a="http://schemas.openxmlformats.org/drawingml/2006/main" prst="rect">
            <a:avLst/>
          </a:prstGeom>
        </p:spPr>
      </p:pic>
      <p:sp>
        <p:nvSpPr>
          <p:cNvPr id="15" name="徽章">
            <a:extLst xmlns:a="http://schemas.openxmlformats.org/drawingml/2006/main">
              <a:ext uri="{FF2B5EF4-FFF2-40B4-BE49-F238E27FC236}">
                <a16:creationId xmlns:a16="http://schemas.microsoft.com/office/drawing/2014/main" id="{AF9CDD0A-5A1C-4A04-BEBD-817EF1E1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432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徽章</a:t>
            </a:r>
            <a:endParaRPr sz="12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4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0c6831cd144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30559" y="3419475"/>
            <a:ext cx="1625933" cy="1162050"/>
          </a:xfrm>
          <a:prstGeom xmlns:a="http://schemas.openxmlformats.org/drawingml/2006/main" prst="rect">
            <a:avLst/>
          </a:prstGeom>
        </p:spPr>
      </p:pic>
      <p:sp>
        <p:nvSpPr>
          <p:cNvPr id="17" name="亚克力立牌 / 吊饰">
            <a:extLst xmlns:a="http://schemas.openxmlformats.org/drawingml/2006/main">
              <a:ext uri="{FF2B5EF4-FFF2-40B4-BE49-F238E27FC236}">
                <a16:creationId xmlns:a16="http://schemas.microsoft.com/office/drawing/2014/main" id="{F8F6D5F8-69C1-4F04-B109-B0FBF1F9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196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亚克力立牌 / 吊饰</a:t>
            </a:r>
            <a:endParaRPr sz="12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6" name="图片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75e9977594f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5076" y="3419475"/>
            <a:ext cx="1860397" cy="1162050"/>
          </a:xfrm>
          <a:prstGeom xmlns:a="http://schemas.openxmlformats.org/drawingml/2006/main" prst="rect">
            <a:avLst/>
          </a:prstGeom>
        </p:spPr>
      </p:pic>
      <p:sp>
        <p:nvSpPr>
          <p:cNvPr id="19" name="明信片">
            <a:extLst xmlns:a="http://schemas.openxmlformats.org/drawingml/2006/main">
              <a:ext uri="{FF2B5EF4-FFF2-40B4-BE49-F238E27FC236}">
                <a16:creationId xmlns:a16="http://schemas.microsoft.com/office/drawing/2014/main" id="{017397E3-5DD0-4199-B4D7-E0A4C3CC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196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明信片</a:t>
            </a:r>
            <a:endParaRPr sz="12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8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69bdfe24145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42314" y="3419475"/>
            <a:ext cx="1089422" cy="1162050"/>
          </a:xfrm>
          <a:prstGeom xmlns:a="http://schemas.openxmlformats.org/drawingml/2006/main" prst="rect">
            <a:avLst/>
          </a:prstGeom>
        </p:spPr>
      </p:pic>
      <p:sp>
        <p:nvSpPr>
          <p:cNvPr id="21" name="手机壳">
            <a:extLst xmlns:a="http://schemas.openxmlformats.org/drawingml/2006/main">
              <a:ext uri="{FF2B5EF4-FFF2-40B4-BE49-F238E27FC236}">
                <a16:creationId xmlns:a16="http://schemas.microsoft.com/office/drawing/2014/main" id="{CC8773AD-429E-47C7-AA8B-C4BAAED7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196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手机壳</a:t>
            </a:r>
            <a:endParaRPr sz="12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0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a4e81c4c647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4946" y="4895850"/>
            <a:ext cx="1877158" cy="1162050"/>
          </a:xfrm>
          <a:prstGeom xmlns:a="http://schemas.openxmlformats.org/drawingml/2006/main" prst="rect">
            <a:avLst/>
          </a:prstGeom>
        </p:spPr>
      </p:pic>
      <p:sp>
        <p:nvSpPr>
          <p:cNvPr id="23" name="笔记本">
            <a:extLst xmlns:a="http://schemas.openxmlformats.org/drawingml/2006/main">
              <a:ext uri="{FF2B5EF4-FFF2-40B4-BE49-F238E27FC236}">
                <a16:creationId xmlns:a16="http://schemas.microsoft.com/office/drawing/2014/main" id="{062BA53D-7B2D-4587-A26F-98D8A0E0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096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笔记本</a:t>
            </a:r>
            <a:endParaRPr sz="12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2" name="图片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a857dc4d44b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13572" y="4895850"/>
            <a:ext cx="1603406" cy="1162050"/>
          </a:xfrm>
          <a:prstGeom xmlns:a="http://schemas.openxmlformats.org/drawingml/2006/main" prst="rect">
            <a:avLst/>
          </a:prstGeom>
        </p:spPr>
      </p:pic>
      <p:sp>
        <p:nvSpPr>
          <p:cNvPr id="25" name="包装盒">
            <a:extLst xmlns:a="http://schemas.openxmlformats.org/drawingml/2006/main">
              <a:ext uri="{FF2B5EF4-FFF2-40B4-BE49-F238E27FC236}">
                <a16:creationId xmlns:a16="http://schemas.microsoft.com/office/drawing/2014/main" id="{A0282207-9F6F-41B0-8343-0EC96647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96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包装盒</a:t>
            </a:r>
            <a:endParaRPr sz="12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4" name="图片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ede6c2e724e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70793" y="4895850"/>
            <a:ext cx="1832463" cy="1162050"/>
          </a:xfrm>
          <a:prstGeom xmlns:a="http://schemas.openxmlformats.org/drawingml/2006/main" prst="rect">
            <a:avLst/>
          </a:prstGeom>
        </p:spPr>
      </p:pic>
      <p:sp>
        <p:nvSpPr>
          <p:cNvPr id="27" name="毛巾 / 布巾">
            <a:extLst xmlns:a="http://schemas.openxmlformats.org/drawingml/2006/main">
              <a:ext uri="{FF2B5EF4-FFF2-40B4-BE49-F238E27FC236}">
                <a16:creationId xmlns:a16="http://schemas.microsoft.com/office/drawing/2014/main" id="{34998B15-5F92-411B-95AD-F99A02AF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096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毛巾 / 布巾</a:t>
            </a:r>
            <a:endParaRPr sz="12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996792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12">
            <a:extLst xmlns:a="http://schemas.openxmlformats.org/drawingml/2006/main">
              <a:ext uri="{FF2B5EF4-FFF2-40B4-BE49-F238E27FC236}">
                <a16:creationId xmlns:a16="http://schemas.microsoft.com/office/drawing/2014/main" id="{16459AC9-C025-411D-87EC-B4AE4BBC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25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CAMPAIGN ACTIVATION">
            <a:extLst xmlns:a="http://schemas.openxmlformats.org/drawingml/2006/main">
              <a:ext uri="{FF2B5EF4-FFF2-40B4-BE49-F238E27FC236}">
                <a16:creationId xmlns:a16="http://schemas.microsoft.com/office/drawing/2014/main" id="{F742BE32-7376-4BFD-988D-51413E29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CAMPAIGN ACTIVATION</a:t>
            </a:r>
            <a:endParaRPr sz="97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传播路径">
            <a:extLst xmlns:a="http://schemas.openxmlformats.org/drawingml/2006/main">
              <a:ext uri="{FF2B5EF4-FFF2-40B4-BE49-F238E27FC236}">
                <a16:creationId xmlns:a16="http://schemas.microsoft.com/office/drawing/2014/main" id="{CFDCAC5B-B74F-40C0-A570-5063D497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150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传播路径</a:t>
            </a:r>
            <a:endParaRPr sz="24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YLVIE  /  WANFENG LAB  /  个人概念项目">
            <a:extLst xmlns:a="http://schemas.openxmlformats.org/drawingml/2006/main">
              <a:ext uri="{FF2B5EF4-FFF2-40B4-BE49-F238E27FC236}">
                <a16:creationId xmlns:a16="http://schemas.microsoft.com/office/drawing/2014/main" id="{76875FA8-9CD4-4D04-BABE-E948A354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246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Sylvia／韩祎飒</a:t>
            </a: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  /  WANFENG LAB  /  个人概念项目</a:t>
            </a:r>
            <a:endParaRPr sz="825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12 / 14">
            <a:extLst xmlns:a="http://schemas.openxmlformats.org/drawingml/2006/main">
              <a:ext uri="{FF2B5EF4-FFF2-40B4-BE49-F238E27FC236}">
                <a16:creationId xmlns:a16="http://schemas.microsoft.com/office/drawing/2014/main" id="{902CB6F8-079C-4407-8214-1545E42A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12 / 14</a:t>
            </a:r>
            <a:endParaRPr sz="82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让用户留下自己的晚风时刻">
            <a:extLst xmlns:a="http://schemas.openxmlformats.org/drawingml/2006/main">
              <a:ext uri="{FF2B5EF4-FFF2-40B4-BE49-F238E27FC236}">
                <a16:creationId xmlns:a16="http://schemas.microsoft.com/office/drawing/2014/main" id="{CD23A725-70D2-4E0A-AD3B-2AEDD65E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6619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让用户留下自己的晚风时刻</a:t>
            </a:r>
            <a:endParaRPr sz="232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01  预热">
            <a:extLst xmlns:a="http://schemas.openxmlformats.org/drawingml/2006/main">
              <a:ext uri="{FF2B5EF4-FFF2-40B4-BE49-F238E27FC236}">
                <a16:creationId xmlns:a16="http://schemas.microsoft.com/office/drawing/2014/main" id="{EEC052CE-CB5B-4702-A06D-421144D4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00275"/>
            <a:ext cx="1628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01  预热</a:t>
            </a:r>
            <a:endParaRPr sz="18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最近的你，是什么天气？">
            <a:extLst xmlns:a="http://schemas.openxmlformats.org/drawingml/2006/main">
              <a:ext uri="{FF2B5EF4-FFF2-40B4-BE49-F238E27FC236}">
                <a16:creationId xmlns:a16="http://schemas.microsoft.com/office/drawing/2014/main" id="{4B0A7FF6-5758-4C9F-AF78-5CB66B56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19325"/>
            <a:ext cx="4733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最近的你，是什么天气？</a:t>
            </a:r>
            <a:endParaRPr sz="165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02  互动">
            <a:extLst xmlns:a="http://schemas.openxmlformats.org/drawingml/2006/main">
              <a:ext uri="{FF2B5EF4-FFF2-40B4-BE49-F238E27FC236}">
                <a16:creationId xmlns:a16="http://schemas.microsoft.com/office/drawing/2014/main" id="{1DF8774B-AADA-4F62-A87C-F956E12A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628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02  互动</a:t>
            </a:r>
            <a:endParaRPr sz="18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情绪天气测试 / 评论参与">
            <a:extLst xmlns:a="http://schemas.openxmlformats.org/drawingml/2006/main">
              <a:ext uri="{FF2B5EF4-FFF2-40B4-BE49-F238E27FC236}">
                <a16:creationId xmlns:a16="http://schemas.microsoft.com/office/drawing/2014/main" id="{61700E5E-65D2-4429-81DB-4CB589F7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14650"/>
            <a:ext cx="4733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情绪天气测试 / 评论参与</a:t>
            </a:r>
            <a:endParaRPr sz="165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03  种草">
            <a:extLst xmlns:a="http://schemas.openxmlformats.org/drawingml/2006/main">
              <a:ext uri="{FF2B5EF4-FFF2-40B4-BE49-F238E27FC236}">
                <a16:creationId xmlns:a16="http://schemas.microsoft.com/office/drawing/2014/main" id="{CB488490-0C5D-4FEF-9AA7-6923212D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90925"/>
            <a:ext cx="1628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03  种草</a:t>
            </a:r>
            <a:endParaRPr sz="18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对应饮品 / 日常场景内容">
            <a:extLst xmlns:a="http://schemas.openxmlformats.org/drawingml/2006/main">
              <a:ext uri="{FF2B5EF4-FFF2-40B4-BE49-F238E27FC236}">
                <a16:creationId xmlns:a16="http://schemas.microsoft.com/office/drawing/2014/main" id="{92F11351-CE63-4227-9832-5DCFB157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09975"/>
            <a:ext cx="4733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对应饮品 / 日常场景内容</a:t>
            </a:r>
            <a:endParaRPr sz="165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04  UGC">
            <a:extLst xmlns:a="http://schemas.openxmlformats.org/drawingml/2006/main">
              <a:ext uri="{FF2B5EF4-FFF2-40B4-BE49-F238E27FC236}">
                <a16:creationId xmlns:a16="http://schemas.microsoft.com/office/drawing/2014/main" id="{D0D4E138-F330-45C7-A61E-72DAF66E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1628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04  UGC</a:t>
            </a:r>
            <a:endParaRPr sz="18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话题：#今天的情绪天气">
            <a:extLst xmlns:a="http://schemas.openxmlformats.org/drawingml/2006/main">
              <a:ext uri="{FF2B5EF4-FFF2-40B4-BE49-F238E27FC236}">
                <a16:creationId xmlns:a16="http://schemas.microsoft.com/office/drawing/2014/main" id="{849165D2-2FD9-46EF-AE5A-B06E2E93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05300"/>
            <a:ext cx="4733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话题：#今天的情绪天气</a:t>
            </a:r>
            <a:endParaRPr sz="165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05  沉淀">
            <a:extLst xmlns:a="http://schemas.openxmlformats.org/drawingml/2006/main">
              <a:ext uri="{FF2B5EF4-FFF2-40B4-BE49-F238E27FC236}">
                <a16:creationId xmlns:a16="http://schemas.microsoft.com/office/drawing/2014/main" id="{DB3F8282-5F9E-45C7-A542-71C3F36A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81575"/>
            <a:ext cx="1628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05  沉淀</a:t>
            </a:r>
            <a:endParaRPr sz="18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汇集用户情绪与饮品内容">
            <a:extLst xmlns:a="http://schemas.openxmlformats.org/drawingml/2006/main">
              <a:ext uri="{FF2B5EF4-FFF2-40B4-BE49-F238E27FC236}">
                <a16:creationId xmlns:a16="http://schemas.microsoft.com/office/drawing/2014/main" id="{9BF31863-0ABB-44DB-AF23-D27C479D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00625"/>
            <a:ext cx="4733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汇集用户情绪与饮品内容</a:t>
            </a:r>
            <a:endParaRPr sz="165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传播方案设想，非真实投放结果">
            <a:extLst xmlns:a="http://schemas.openxmlformats.org/drawingml/2006/main">
              <a:ext uri="{FF2B5EF4-FFF2-40B4-BE49-F238E27FC236}">
                <a16:creationId xmlns:a16="http://schemas.microsoft.com/office/drawing/2014/main" id="{35D73D70-99C3-43DA-B9BF-4DE85C09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传播方案设想，非真实投放结果</a:t>
            </a:r>
            <a:endParaRPr sz="1425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8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ca28a660e40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8427" y="1943100"/>
            <a:ext cx="3641721" cy="38004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341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13">
            <a:extLst xmlns:a="http://schemas.openxmlformats.org/drawingml/2006/main">
              <a:ext uri="{FF2B5EF4-FFF2-40B4-BE49-F238E27FC236}">
                <a16:creationId xmlns:a16="http://schemas.microsoft.com/office/drawing/2014/main" id="{D576AECF-4799-4265-BA80-1B79507C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13</a:t>
            </a:r>
            <a:endParaRPr sz="25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AIGC WORKFLOW">
            <a:extLst xmlns:a="http://schemas.openxmlformats.org/drawingml/2006/main">
              <a:ext uri="{FF2B5EF4-FFF2-40B4-BE49-F238E27FC236}">
                <a16:creationId xmlns:a16="http://schemas.microsoft.com/office/drawing/2014/main" id="{0EBB4935-9AF5-4CDE-88D6-C256ABD3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AIGC WORKFLOW</a:t>
            </a:r>
            <a:endParaRPr sz="97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AIGC 内容生产方法">
            <a:extLst xmlns:a="http://schemas.openxmlformats.org/drawingml/2006/main">
              <a:ext uri="{FF2B5EF4-FFF2-40B4-BE49-F238E27FC236}">
                <a16:creationId xmlns:a16="http://schemas.microsoft.com/office/drawing/2014/main" id="{9E599161-F4A7-4926-B4B7-D7872BFD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150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AIGC 内容生产方法</a:t>
            </a:r>
            <a:endParaRPr sz="24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YLVIE  /  WANFENG LAB  /  个人概念项目">
            <a:extLst xmlns:a="http://schemas.openxmlformats.org/drawingml/2006/main">
              <a:ext uri="{FF2B5EF4-FFF2-40B4-BE49-F238E27FC236}">
                <a16:creationId xmlns:a16="http://schemas.microsoft.com/office/drawing/2014/main" id="{F9D4FEAD-9BE0-43C7-8B93-964F55B7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246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Sylvia／韩祎飒</a:t>
            </a: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  /  WANFENG LAB  /  个人概念项目</a:t>
            </a:r>
            <a:endParaRPr sz="825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13 / 14">
            <a:extLst xmlns:a="http://schemas.openxmlformats.org/drawingml/2006/main">
              <a:ext uri="{FF2B5EF4-FFF2-40B4-BE49-F238E27FC236}">
                <a16:creationId xmlns:a16="http://schemas.microsoft.com/office/drawing/2014/main" id="{DC804112-189F-4DE8-B133-6FC032B1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13 / 14</a:t>
            </a:r>
            <a:endParaRPr sz="82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以品牌规则约束生成，用人工判断保证一致性">
            <a:extLst xmlns:a="http://schemas.openxmlformats.org/drawingml/2006/main">
              <a:ext uri="{FF2B5EF4-FFF2-40B4-BE49-F238E27FC236}">
                <a16:creationId xmlns:a16="http://schemas.microsoft.com/office/drawing/2014/main" id="{5C60E2B0-B58B-4648-AAF9-BD7E42DE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以品牌规则约束生成，用人工判断保证一致性</a:t>
            </a:r>
            <a:endParaRPr sz="21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01  Brief">
            <a:extLst xmlns:a="http://schemas.openxmlformats.org/drawingml/2006/main">
              <a:ext uri="{FF2B5EF4-FFF2-40B4-BE49-F238E27FC236}">
                <a16:creationId xmlns:a16="http://schemas.microsoft.com/office/drawing/2014/main" id="{8D59ED3C-8CAC-4106-A1D1-10CB932A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05025"/>
            <a:ext cx="3590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49372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93723"/>
                </a:solidFill>
                <a:latin typeface="Aptos"/>
                <a:ea typeface="Aptos"/>
                <a:cs typeface="Aptos"/>
              </a:rPr>
              <a:t>01  Brief</a:t>
            </a:r>
            <a:endParaRPr sz="1950" b="1">
              <a:solidFill>
                <a:srgbClr val="49372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定义产品线、情绪与场景">
            <a:extLst xmlns:a="http://schemas.openxmlformats.org/drawingml/2006/main">
              <a:ext uri="{FF2B5EF4-FFF2-40B4-BE49-F238E27FC236}">
                <a16:creationId xmlns:a16="http://schemas.microsoft.com/office/drawing/2014/main" id="{32205EAE-1BBD-4096-B9A1-D5477E57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24125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定义产品线、情绪与场景</a:t>
            </a:r>
            <a:endParaRPr sz="150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02  Prompt">
            <a:extLst xmlns:a="http://schemas.openxmlformats.org/drawingml/2006/main">
              <a:ext uri="{FF2B5EF4-FFF2-40B4-BE49-F238E27FC236}">
                <a16:creationId xmlns:a16="http://schemas.microsoft.com/office/drawing/2014/main" id="{FDD926A8-A625-4535-8613-5C44261C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05025"/>
            <a:ext cx="3590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49372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93723"/>
                </a:solidFill>
                <a:latin typeface="Aptos"/>
                <a:ea typeface="Aptos"/>
                <a:cs typeface="Aptos"/>
              </a:rPr>
              <a:t>02  Prompt</a:t>
            </a:r>
            <a:endParaRPr sz="1950" b="1">
              <a:solidFill>
                <a:srgbClr val="49372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明确光线、材质与镜头语言">
            <a:extLst xmlns:a="http://schemas.openxmlformats.org/drawingml/2006/main">
              <a:ext uri="{FF2B5EF4-FFF2-40B4-BE49-F238E27FC236}">
                <a16:creationId xmlns:a16="http://schemas.microsoft.com/office/drawing/2014/main" id="{D8A456E2-1262-4297-ABD8-E9EF6461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24125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明确光线、材质与镜头语言</a:t>
            </a:r>
            <a:endParaRPr sz="150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03  Generate">
            <a:extLst xmlns:a="http://schemas.openxmlformats.org/drawingml/2006/main">
              <a:ext uri="{FF2B5EF4-FFF2-40B4-BE49-F238E27FC236}">
                <a16:creationId xmlns:a16="http://schemas.microsoft.com/office/drawing/2014/main" id="{03C38518-90E6-4375-A913-D4D9C889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05025"/>
            <a:ext cx="3590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49372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93723"/>
                </a:solidFill>
                <a:latin typeface="Aptos"/>
                <a:ea typeface="Aptos"/>
                <a:cs typeface="Aptos"/>
              </a:rPr>
              <a:t>03  Generate</a:t>
            </a:r>
            <a:endParaRPr sz="1950" b="1">
              <a:solidFill>
                <a:srgbClr val="49372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生成多候选，比较方向">
            <a:extLst xmlns:a="http://schemas.openxmlformats.org/drawingml/2006/main">
              <a:ext uri="{FF2B5EF4-FFF2-40B4-BE49-F238E27FC236}">
                <a16:creationId xmlns:a16="http://schemas.microsoft.com/office/drawing/2014/main" id="{E4BB62CC-C742-4EDD-9024-3DD710D4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24125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生成多候选，比较方向</a:t>
            </a:r>
            <a:endParaRPr sz="150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04  Select">
            <a:extLst xmlns:a="http://schemas.openxmlformats.org/drawingml/2006/main">
              <a:ext uri="{FF2B5EF4-FFF2-40B4-BE49-F238E27FC236}">
                <a16:creationId xmlns:a16="http://schemas.microsoft.com/office/drawing/2014/main" id="{AE1D52A5-7A6E-48AD-9ECA-E939895F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590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49372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93723"/>
                </a:solidFill>
                <a:latin typeface="Aptos"/>
                <a:ea typeface="Aptos"/>
                <a:cs typeface="Aptos"/>
              </a:rPr>
              <a:t>04  Select</a:t>
            </a:r>
            <a:endParaRPr sz="1950" b="1">
              <a:solidFill>
                <a:srgbClr val="49372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筛选构图、Logo与产品一致性">
            <a:extLst xmlns:a="http://schemas.openxmlformats.org/drawingml/2006/main">
              <a:ext uri="{FF2B5EF4-FFF2-40B4-BE49-F238E27FC236}">
                <a16:creationId xmlns:a16="http://schemas.microsoft.com/office/drawing/2014/main" id="{4CB0299B-C31E-40FB-A323-7765E26F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筛选构图、Logo与产品一致性</a:t>
            </a:r>
            <a:endParaRPr sz="150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05  Refine">
            <a:extLst xmlns:a="http://schemas.openxmlformats.org/drawingml/2006/main">
              <a:ext uri="{FF2B5EF4-FFF2-40B4-BE49-F238E27FC236}">
                <a16:creationId xmlns:a16="http://schemas.microsoft.com/office/drawing/2014/main" id="{1E3C22D3-3233-4CFD-AAAB-92D2119D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43250"/>
            <a:ext cx="3590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49372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93723"/>
                </a:solidFill>
                <a:latin typeface="Aptos"/>
                <a:ea typeface="Aptos"/>
                <a:cs typeface="Aptos"/>
              </a:rPr>
              <a:t>05  Refine</a:t>
            </a:r>
            <a:endParaRPr sz="1950" b="1">
              <a:solidFill>
                <a:srgbClr val="49372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修正字体和局部，检查可读性">
            <a:extLst xmlns:a="http://schemas.openxmlformats.org/drawingml/2006/main">
              <a:ext uri="{FF2B5EF4-FFF2-40B4-BE49-F238E27FC236}">
                <a16:creationId xmlns:a16="http://schemas.microsoft.com/office/drawing/2014/main" id="{BDAC739A-1532-44E7-AB24-8EDF82DE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62350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修正字体和局部，检查可读性</a:t>
            </a:r>
            <a:endParaRPr sz="150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06  Output">
            <a:extLst xmlns:a="http://schemas.openxmlformats.org/drawingml/2006/main">
              <a:ext uri="{FF2B5EF4-FFF2-40B4-BE49-F238E27FC236}">
                <a16:creationId xmlns:a16="http://schemas.microsoft.com/office/drawing/2014/main" id="{F19CF820-6E07-40E5-91E5-81612B5C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43250"/>
            <a:ext cx="3590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49372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93723"/>
                </a:solidFill>
                <a:latin typeface="Aptos"/>
                <a:ea typeface="Aptos"/>
                <a:cs typeface="Aptos"/>
              </a:rPr>
              <a:t>06  Output</a:t>
            </a:r>
            <a:endParaRPr sz="1950" b="1">
              <a:solidFill>
                <a:srgbClr val="49372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适配 KV、社媒、包装与 Motion">
            <a:extLst xmlns:a="http://schemas.openxmlformats.org/drawingml/2006/main">
              <a:ext uri="{FF2B5EF4-FFF2-40B4-BE49-F238E27FC236}">
                <a16:creationId xmlns:a16="http://schemas.microsoft.com/office/drawing/2014/main" id="{EFDC87DC-E036-4ABB-9BC8-AB5BA99E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62350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适配 KV、社媒、包装与 Motion</a:t>
            </a:r>
            <a:endParaRPr sz="1500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人工判断重点">
            <a:extLst xmlns:a="http://schemas.openxmlformats.org/drawingml/2006/main">
              <a:ext uri="{FF2B5EF4-FFF2-40B4-BE49-F238E27FC236}">
                <a16:creationId xmlns:a16="http://schemas.microsoft.com/office/drawing/2014/main" id="{CEC4C2F0-1CD5-4399-99F1-498E4F25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43425"/>
            <a:ext cx="11144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人工判断重点</a:t>
            </a:r>
            <a:endParaRPr sz="16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系列差异     移动端可读性     品牌一致性     AI 与人工精修边界">
            <a:extLst xmlns:a="http://schemas.openxmlformats.org/drawingml/2006/main">
              <a:ext uri="{FF2B5EF4-FFF2-40B4-BE49-F238E27FC236}">
                <a16:creationId xmlns:a16="http://schemas.microsoft.com/office/drawing/2014/main" id="{5A400455-9AD6-406B-AD7C-FC9446DC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24425"/>
            <a:ext cx="1114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系列差异     移动端可读性     品牌一致性     AI 与人工精修边界</a:t>
            </a:r>
            <a:endParaRPr sz="1575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I 负责场景与画面候选生成">
            <a:extLst xmlns:a="http://schemas.openxmlformats.org/drawingml/2006/main">
              <a:ext uri="{FF2B5EF4-FFF2-40B4-BE49-F238E27FC236}">
                <a16:creationId xmlns:a16="http://schemas.microsoft.com/office/drawing/2014/main" id="{18E549C5-40B8-49A8-95B4-BBB18C66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2927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AI 负责场景与画面候选生成</a:t>
            </a:r>
            <a:endParaRPr sz="16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人工负责筛选、字标与局部修正、排版">
            <a:extLst xmlns:a="http://schemas.openxmlformats.org/drawingml/2006/main">
              <a:ext uri="{FF2B5EF4-FFF2-40B4-BE49-F238E27FC236}">
                <a16:creationId xmlns:a16="http://schemas.microsoft.com/office/drawing/2014/main" id="{E54FD01D-3CFE-45FE-B9C6-03A9787A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29275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人工负责筛选、字标与局部修正、排版</a:t>
            </a:r>
            <a:endParaRPr sz="16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0945587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14">
            <a:extLst xmlns:a="http://schemas.openxmlformats.org/drawingml/2006/main">
              <a:ext uri="{FF2B5EF4-FFF2-40B4-BE49-F238E27FC236}">
                <a16:creationId xmlns:a16="http://schemas.microsoft.com/office/drawing/2014/main" id="{FEBA0529-0203-4326-B872-9C7D55D0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514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14</a:t>
            </a:r>
            <a:endParaRPr sz="25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RETROSPECTIVE / FINAL BRAND WORLD">
            <a:extLst xmlns:a="http://schemas.openxmlformats.org/drawingml/2006/main">
              <a:ext uri="{FF2B5EF4-FFF2-40B4-BE49-F238E27FC236}">
                <a16:creationId xmlns:a16="http://schemas.microsoft.com/office/drawing/2014/main" id="{2E88AFB2-C9A5-46B2-B993-5A17015E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RETROSPECTIVE / FINAL BRAND WORLD</a:t>
            </a:r>
            <a:endParaRPr sz="97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复盘与品牌世界">
            <a:extLst xmlns:a="http://schemas.openxmlformats.org/drawingml/2006/main">
              <a:ext uri="{FF2B5EF4-FFF2-40B4-BE49-F238E27FC236}">
                <a16:creationId xmlns:a16="http://schemas.microsoft.com/office/drawing/2014/main" id="{7248A594-12A9-462A-8BFD-5A6BED82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150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复盘与品牌世界</a:t>
            </a:r>
            <a:endParaRPr sz="240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SYLVIE  /  WANFENG LAB  /  个人概念项目">
            <a:extLst xmlns:a="http://schemas.openxmlformats.org/drawingml/2006/main">
              <a:ext uri="{FF2B5EF4-FFF2-40B4-BE49-F238E27FC236}">
                <a16:creationId xmlns:a16="http://schemas.microsoft.com/office/drawing/2014/main" id="{D4FC4E79-27F9-48E6-B7CD-B7A15DDF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24625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Sylvia／韩祎飒</a:t>
            </a:r>
            <a:r>
              <a:rPr sz="825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  /  WANFENG LAB  /  个人概念项目</a:t>
            </a:r>
            <a:endParaRPr sz="825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14 / 14">
            <a:extLst xmlns:a="http://schemas.openxmlformats.org/drawingml/2006/main">
              <a:ext uri="{FF2B5EF4-FFF2-40B4-BE49-F238E27FC236}">
                <a16:creationId xmlns:a16="http://schemas.microsoft.com/office/drawing/2014/main" id="{92854752-9BF2-446F-80AA-EEF31C71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2462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7E70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E705F"/>
                </a:solidFill>
                <a:latin typeface="Aptos"/>
                <a:ea typeface="Aptos"/>
                <a:cs typeface="Aptos"/>
              </a:rPr>
              <a:t>14 / 14</a:t>
            </a:r>
            <a:endParaRPr sz="825" b="0">
              <a:solidFill>
                <a:srgbClr val="7E70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A little weather for every mood.">
            <a:extLst xmlns:a="http://schemas.openxmlformats.org/drawingml/2006/main">
              <a:ext uri="{FF2B5EF4-FFF2-40B4-BE49-F238E27FC236}">
                <a16:creationId xmlns:a16="http://schemas.microsoft.com/office/drawing/2014/main" id="{0539381E-FE7A-43A1-A922-F8D464C9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763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493723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493723"/>
                </a:solidFill>
                <a:latin typeface="Aptos"/>
                <a:ea typeface="Aptos"/>
                <a:cs typeface="Aptos"/>
              </a:rPr>
              <a:t>A little weather for every mood.</a:t>
            </a:r>
            <a:endParaRPr sz="2475" b="1">
              <a:solidFill>
                <a:srgbClr val="493723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38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883d2f12041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121061"/>
            <a:ext cx="2505075" cy="3130227"/>
          </a:xfrm>
          <a:prstGeom xmlns:a="http://schemas.openxmlformats.org/drawingml/2006/main" prst="rect">
            <a:avLst/>
          </a:prstGeom>
        </p:spPr>
      </p:pic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31c69f28c41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0400" y="1982768"/>
            <a:ext cx="4791075" cy="949365"/>
          </a:xfrm>
          <a:prstGeom xmlns:a="http://schemas.openxmlformats.org/drawingml/2006/main" prst="rect">
            <a:avLst/>
          </a:prstGeom>
        </p:spPr>
      </p:pic>
      <p:sp>
        <p:nvSpPr>
          <p:cNvPr id="9" name="产品系列">
            <a:extLst xmlns:a="http://schemas.openxmlformats.org/drawingml/2006/main">
              <a:ext uri="{FF2B5EF4-FFF2-40B4-BE49-F238E27FC236}">
                <a16:creationId xmlns:a16="http://schemas.microsoft.com/office/drawing/2014/main" id="{430320CB-706A-499E-9042-7B84BC33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38475"/>
            <a:ext cx="4791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产品系列</a:t>
            </a:r>
            <a:endParaRPr sz="1200" b="1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1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546f10350f4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0400" y="3394050"/>
            <a:ext cx="4791075" cy="870001"/>
          </a:xfrm>
          <a:prstGeom xmlns:a="http://schemas.openxmlformats.org/drawingml/2006/main" prst="rect">
            <a:avLst/>
          </a:prstGeom>
        </p:spPr>
      </p:pic>
      <p:sp>
        <p:nvSpPr>
          <p:cNvPr id="11" name="包装体系">
            <a:extLst xmlns:a="http://schemas.openxmlformats.org/drawingml/2006/main">
              <a:ext uri="{FF2B5EF4-FFF2-40B4-BE49-F238E27FC236}">
                <a16:creationId xmlns:a16="http://schemas.microsoft.com/office/drawing/2014/main" id="{4061ED8A-75C6-432C-B969-D6243AB3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91025"/>
            <a:ext cx="4791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包装体系</a:t>
            </a:r>
            <a:endParaRPr sz="1200" b="1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64fe554fa44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09649" y="4695825"/>
            <a:ext cx="1057878" cy="1019175"/>
          </a:xfrm>
          <a:prstGeom xmlns:a="http://schemas.openxmlformats.org/drawingml/2006/main" prst="rect">
            <a:avLst/>
          </a:prstGeom>
        </p:spPr>
      </p:pic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839232e1449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2926" y="4695825"/>
            <a:ext cx="1426023" cy="1019175"/>
          </a:xfrm>
          <a:prstGeom xmlns:a="http://schemas.openxmlformats.org/drawingml/2006/main" prst="rect">
            <a:avLst/>
          </a:prstGeom>
        </p:spPr>
      </p:pic>
      <p:pic>
        <p:nvPicPr>
          <p:cNvPr id="45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ebbbc2ed443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5100" y="4748439"/>
            <a:ext cx="1476375" cy="913946"/>
          </a:xfrm>
          <a:prstGeom xmlns:a="http://schemas.openxmlformats.org/drawingml/2006/main" prst="rect">
            <a:avLst/>
          </a:prstGeom>
        </p:spPr>
      </p:pic>
      <p:sp>
        <p:nvSpPr>
          <p:cNvPr id="15" name="社媒与日常触点">
            <a:extLst xmlns:a="http://schemas.openxmlformats.org/drawingml/2006/main">
              <a:ext uri="{FF2B5EF4-FFF2-40B4-BE49-F238E27FC236}">
                <a16:creationId xmlns:a16="http://schemas.microsoft.com/office/drawing/2014/main" id="{F5667E81-11F0-403D-ABB8-7276E3A8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81675"/>
            <a:ext cx="4791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社媒与日常触点</a:t>
            </a:r>
            <a:endParaRPr sz="1200" b="1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品牌系统 × AIGC 内容生产 × 社交传播">
            <a:extLst xmlns:a="http://schemas.openxmlformats.org/drawingml/2006/main">
              <a:ext uri="{FF2B5EF4-FFF2-40B4-BE49-F238E27FC236}">
                <a16:creationId xmlns:a16="http://schemas.microsoft.com/office/drawing/2014/main" id="{96AC5CD3-22A9-4B52-87E6-45800A77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72200"/>
            <a:ext cx="7658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品牌系统 × AIGC 内容生产 × 社交传播</a:t>
            </a:r>
            <a:endParaRPr sz="16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下一步迭代与验证">
            <a:extLst xmlns:a="http://schemas.openxmlformats.org/drawingml/2006/main">
              <a:ext uri="{FF2B5EF4-FFF2-40B4-BE49-F238E27FC236}">
                <a16:creationId xmlns:a16="http://schemas.microsoft.com/office/drawing/2014/main" id="{2396F6CC-5E18-44F1-BD43-1EC3FD6C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90650"/>
            <a:ext cx="3181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下一步迭代与验证</a:t>
            </a:r>
            <a:endParaRPr sz="1875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系列辨识">
            <a:extLst xmlns:a="http://schemas.openxmlformats.org/drawingml/2006/main">
              <a:ext uri="{FF2B5EF4-FFF2-40B4-BE49-F238E27FC236}">
                <a16:creationId xmlns:a16="http://schemas.microsoft.com/office/drawing/2014/main" id="{6BD6381F-A3BE-4F6E-8145-C9DBB7C2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62175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系列辨识</a:t>
            </a:r>
            <a:endParaRPr sz="16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增加原料、质感与图形差异，&#10;验证 5 秒识别与情绪联想。">
            <a:extLst xmlns:a="http://schemas.openxmlformats.org/drawingml/2006/main">
              <a:ext uri="{FF2B5EF4-FFF2-40B4-BE49-F238E27FC236}">
                <a16:creationId xmlns:a16="http://schemas.microsoft.com/office/drawing/2014/main" id="{47E3D0F8-E4B6-46D7-B716-9BE6C747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3181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增加原料、质感与图形差异，</a:t>
            </a:r>
            <a:endParaRPr sz="1425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buNone/>
              <a:defRPr sz="142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验证 5 秒识别与情绪联想。</a:t>
            </a:r>
            <a:endParaRPr sz="1425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移动端阅读">
            <a:extLst xmlns:a="http://schemas.openxmlformats.org/drawingml/2006/main">
              <a:ext uri="{FF2B5EF4-FFF2-40B4-BE49-F238E27FC236}">
                <a16:creationId xmlns:a16="http://schemas.microsoft.com/office/drawing/2014/main" id="{3563F8C4-0163-44A5-850D-1A801739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67100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移动端阅读</a:t>
            </a:r>
            <a:endParaRPr sz="16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检查标题与产品名的可读性，&#10;提高关键信息对比。">
            <a:extLst xmlns:a="http://schemas.openxmlformats.org/drawingml/2006/main">
              <a:ext uri="{FF2B5EF4-FFF2-40B4-BE49-F238E27FC236}">
                <a16:creationId xmlns:a16="http://schemas.microsoft.com/office/drawing/2014/main" id="{73A51B13-33D5-49AA-A78C-618CDFBE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76675"/>
            <a:ext cx="3181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检查标题与产品名的可读性，</a:t>
            </a:r>
            <a:endParaRPr sz="1425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buNone/>
              <a:defRPr sz="142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提高关键信息对比。</a:t>
            </a:r>
            <a:endParaRPr sz="1425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过程证据与落地">
            <a:extLst xmlns:a="http://schemas.openxmlformats.org/drawingml/2006/main">
              <a:ext uri="{FF2B5EF4-FFF2-40B4-BE49-F238E27FC236}">
                <a16:creationId xmlns:a16="http://schemas.microsoft.com/office/drawing/2014/main" id="{94AD087A-9F6F-462E-8D59-11BC6DD3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72025"/>
            <a:ext cx="3181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过程证据与落地</a:t>
            </a:r>
            <a:endParaRPr sz="1650" b="1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补充候选筛选与精修对照，&#10;验证包装打样和印刷色。">
            <a:extLst xmlns:a="http://schemas.openxmlformats.org/drawingml/2006/main">
              <a:ext uri="{FF2B5EF4-FFF2-40B4-BE49-F238E27FC236}">
                <a16:creationId xmlns:a16="http://schemas.microsoft.com/office/drawing/2014/main" id="{D1CC2F03-BE1C-40B5-AC62-9CE49EF1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81600"/>
            <a:ext cx="3181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补充候选筛选与精修对照，</a:t>
            </a:r>
            <a:endParaRPr sz="1425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buNone/>
              <a:defRPr sz="142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493723"/>
                </a:solidFill>
                <a:latin typeface="微软雅黑"/>
                <a:ea typeface="微软雅黑"/>
                <a:cs typeface="微软雅黑"/>
              </a:rPr>
              <a:t>验证包装打样和印刷色。</a:t>
            </a:r>
            <a:endParaRPr sz="1425" b="0">
              <a:solidFill>
                <a:srgbClr val="49372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概念项目 / AI 生成与人工精修">
            <a:extLst xmlns:a="http://schemas.openxmlformats.org/drawingml/2006/main">
              <a:ext uri="{FF2B5EF4-FFF2-40B4-BE49-F238E27FC236}">
                <a16:creationId xmlns:a16="http://schemas.microsoft.com/office/drawing/2014/main" id="{CFD808CA-1076-4F4D-9968-8CBA0D31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162675"/>
            <a:ext cx="3181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7E705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7E705F"/>
                </a:solidFill>
                <a:latin typeface="微软雅黑"/>
                <a:ea typeface="微软雅黑"/>
                <a:cs typeface="微软雅黑"/>
              </a:rPr>
              <a:t>概念项目 / AI 生成与人工精修</a:t>
            </a:r>
            <a:endParaRPr sz="1200" b="0">
              <a:solidFill>
                <a:srgbClr val="7E705F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552444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2026-09-10T05:25:28.8300000Z</dcterms:created>
  <dcterms:modified xsi:type="dcterms:W3CDTF">2026-09-10T05:25:28.8300000Z</dcterms:modified>
</coreProperties>
</file>